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3244" y="751840"/>
            <a:ext cx="8017510" cy="915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88815" y="2456815"/>
            <a:ext cx="3836034" cy="3449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ocessing.org/reference" TargetMode="External"/><Relationship Id="rId3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2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3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image" Target="../media/image17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9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20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21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2.jpg"/><Relationship Id="rId4" Type="http://schemas.openxmlformats.org/officeDocument/2006/relationships/image" Target="../media/image16.png"/><Relationship Id="rId5" Type="http://schemas.openxmlformats.org/officeDocument/2006/relationships/image" Target="../media/image23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hyperlink" Target="https://github.com/ptiagomp/aalto-programming-visual-artists-24-25/tree/main/Session-05_10032025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588" y="2228943"/>
            <a:ext cx="3115219" cy="238475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847458" y="776425"/>
            <a:ext cx="1796414" cy="1495425"/>
          </a:xfrm>
          <a:custGeom>
            <a:avLst/>
            <a:gdLst/>
            <a:ahLst/>
            <a:cxnLst/>
            <a:rect l="l" t="t" r="r" b="b"/>
            <a:pathLst>
              <a:path w="1796415" h="1495425">
                <a:moveTo>
                  <a:pt x="0" y="297105"/>
                </a:moveTo>
                <a:lnTo>
                  <a:pt x="35035" y="263650"/>
                </a:lnTo>
                <a:lnTo>
                  <a:pt x="70700" y="232232"/>
                </a:lnTo>
                <a:lnTo>
                  <a:pt x="106955" y="202842"/>
                </a:lnTo>
                <a:lnTo>
                  <a:pt x="143758" y="175473"/>
                </a:lnTo>
                <a:lnTo>
                  <a:pt x="181070" y="150117"/>
                </a:lnTo>
                <a:lnTo>
                  <a:pt x="218849" y="126767"/>
                </a:lnTo>
                <a:lnTo>
                  <a:pt x="257055" y="105413"/>
                </a:lnTo>
                <a:lnTo>
                  <a:pt x="295646" y="86049"/>
                </a:lnTo>
                <a:lnTo>
                  <a:pt x="334583" y="68667"/>
                </a:lnTo>
                <a:lnTo>
                  <a:pt x="373825" y="53258"/>
                </a:lnTo>
                <a:lnTo>
                  <a:pt x="413330" y="39815"/>
                </a:lnTo>
                <a:lnTo>
                  <a:pt x="453058" y="28330"/>
                </a:lnTo>
                <a:lnTo>
                  <a:pt x="492968" y="18796"/>
                </a:lnTo>
                <a:lnTo>
                  <a:pt x="533021" y="11203"/>
                </a:lnTo>
                <a:lnTo>
                  <a:pt x="573174" y="5545"/>
                </a:lnTo>
                <a:lnTo>
                  <a:pt x="613387" y="1813"/>
                </a:lnTo>
                <a:lnTo>
                  <a:pt x="653620" y="0"/>
                </a:lnTo>
                <a:lnTo>
                  <a:pt x="693832" y="97"/>
                </a:lnTo>
                <a:lnTo>
                  <a:pt x="733982" y="2097"/>
                </a:lnTo>
                <a:lnTo>
                  <a:pt x="774029" y="5993"/>
                </a:lnTo>
                <a:lnTo>
                  <a:pt x="813933" y="11775"/>
                </a:lnTo>
                <a:lnTo>
                  <a:pt x="853652" y="19437"/>
                </a:lnTo>
                <a:lnTo>
                  <a:pt x="893147" y="28970"/>
                </a:lnTo>
                <a:lnTo>
                  <a:pt x="932377" y="40367"/>
                </a:lnTo>
                <a:lnTo>
                  <a:pt x="971300" y="53619"/>
                </a:lnTo>
                <a:lnTo>
                  <a:pt x="1009877" y="68719"/>
                </a:lnTo>
                <a:lnTo>
                  <a:pt x="1048065" y="85659"/>
                </a:lnTo>
                <a:lnTo>
                  <a:pt x="1085826" y="104431"/>
                </a:lnTo>
                <a:lnTo>
                  <a:pt x="1123117" y="125028"/>
                </a:lnTo>
                <a:lnTo>
                  <a:pt x="1159899" y="147440"/>
                </a:lnTo>
                <a:lnTo>
                  <a:pt x="1196130" y="171661"/>
                </a:lnTo>
                <a:lnTo>
                  <a:pt x="1231770" y="197683"/>
                </a:lnTo>
                <a:lnTo>
                  <a:pt x="1266778" y="225497"/>
                </a:lnTo>
                <a:lnTo>
                  <a:pt x="1301114" y="255096"/>
                </a:lnTo>
                <a:lnTo>
                  <a:pt x="1334736" y="286473"/>
                </a:lnTo>
                <a:lnTo>
                  <a:pt x="1367604" y="319618"/>
                </a:lnTo>
                <a:lnTo>
                  <a:pt x="1399678" y="354524"/>
                </a:lnTo>
                <a:lnTo>
                  <a:pt x="1430916" y="391184"/>
                </a:lnTo>
                <a:lnTo>
                  <a:pt x="1461277" y="429589"/>
                </a:lnTo>
                <a:lnTo>
                  <a:pt x="1490722" y="469732"/>
                </a:lnTo>
                <a:lnTo>
                  <a:pt x="1519210" y="511605"/>
                </a:lnTo>
                <a:lnTo>
                  <a:pt x="1546699" y="555200"/>
                </a:lnTo>
                <a:lnTo>
                  <a:pt x="1573149" y="600508"/>
                </a:lnTo>
                <a:lnTo>
                  <a:pt x="1595492" y="641769"/>
                </a:lnTo>
                <a:lnTo>
                  <a:pt x="1616715" y="683909"/>
                </a:lnTo>
                <a:lnTo>
                  <a:pt x="1636808" y="726887"/>
                </a:lnTo>
                <a:lnTo>
                  <a:pt x="1655760" y="770663"/>
                </a:lnTo>
                <a:lnTo>
                  <a:pt x="1673562" y="815196"/>
                </a:lnTo>
                <a:lnTo>
                  <a:pt x="1690204" y="860445"/>
                </a:lnTo>
                <a:lnTo>
                  <a:pt x="1705676" y="906369"/>
                </a:lnTo>
                <a:lnTo>
                  <a:pt x="1719967" y="952926"/>
                </a:lnTo>
                <a:lnTo>
                  <a:pt x="1733068" y="1000078"/>
                </a:lnTo>
                <a:lnTo>
                  <a:pt x="1744969" y="1047781"/>
                </a:lnTo>
                <a:lnTo>
                  <a:pt x="1755660" y="1095996"/>
                </a:lnTo>
                <a:lnTo>
                  <a:pt x="1765130" y="1144682"/>
                </a:lnTo>
                <a:lnTo>
                  <a:pt x="1773370" y="1193797"/>
                </a:lnTo>
                <a:lnTo>
                  <a:pt x="1780370" y="1243301"/>
                </a:lnTo>
                <a:lnTo>
                  <a:pt x="1786119" y="1293153"/>
                </a:lnTo>
                <a:lnTo>
                  <a:pt x="1790608" y="1343312"/>
                </a:lnTo>
                <a:lnTo>
                  <a:pt x="1793827" y="1393738"/>
                </a:lnTo>
                <a:lnTo>
                  <a:pt x="1795766" y="1444388"/>
                </a:lnTo>
                <a:lnTo>
                  <a:pt x="1796415" y="1495223"/>
                </a:lnTo>
              </a:path>
            </a:pathLst>
          </a:custGeom>
          <a:ln w="126999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98109" y="1278255"/>
            <a:ext cx="3094355" cy="204597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algn="ctr" marL="12065" marR="5080">
              <a:lnSpc>
                <a:spcPct val="100299"/>
              </a:lnSpc>
              <a:spcBef>
                <a:spcPts val="115"/>
              </a:spcBef>
            </a:pPr>
            <a:r>
              <a:rPr dirty="0" sz="4400" spc="-20"/>
              <a:t>Programming </a:t>
            </a:r>
            <a:r>
              <a:rPr dirty="0" sz="4400"/>
              <a:t>for</a:t>
            </a:r>
            <a:r>
              <a:rPr dirty="0" sz="4400" spc="-140"/>
              <a:t> </a:t>
            </a:r>
            <a:r>
              <a:rPr dirty="0" sz="4400" spc="-10"/>
              <a:t>Visual Artists</a:t>
            </a:r>
            <a:endParaRPr sz="4400"/>
          </a:p>
        </p:txBody>
      </p:sp>
      <p:sp>
        <p:nvSpPr>
          <p:cNvPr id="5" name="object 5" descr=""/>
          <p:cNvSpPr/>
          <p:nvPr/>
        </p:nvSpPr>
        <p:spPr>
          <a:xfrm>
            <a:off x="8324850" y="5610225"/>
            <a:ext cx="381000" cy="495300"/>
          </a:xfrm>
          <a:custGeom>
            <a:avLst/>
            <a:gdLst/>
            <a:ahLst/>
            <a:cxnLst/>
            <a:rect l="l" t="t" r="r" b="b"/>
            <a:pathLst>
              <a:path w="381000" h="495300">
                <a:moveTo>
                  <a:pt x="190500" y="0"/>
                </a:moveTo>
                <a:lnTo>
                  <a:pt x="152123" y="5031"/>
                </a:lnTo>
                <a:lnTo>
                  <a:pt x="116371" y="19460"/>
                </a:lnTo>
                <a:lnTo>
                  <a:pt x="84013" y="42293"/>
                </a:lnTo>
                <a:lnTo>
                  <a:pt x="55816" y="72532"/>
                </a:lnTo>
                <a:lnTo>
                  <a:pt x="32548" y="109184"/>
                </a:lnTo>
                <a:lnTo>
                  <a:pt x="14978" y="151251"/>
                </a:lnTo>
                <a:lnTo>
                  <a:pt x="3872" y="197738"/>
                </a:lnTo>
                <a:lnTo>
                  <a:pt x="0" y="247650"/>
                </a:lnTo>
                <a:lnTo>
                  <a:pt x="3872" y="297561"/>
                </a:lnTo>
                <a:lnTo>
                  <a:pt x="14978" y="344048"/>
                </a:lnTo>
                <a:lnTo>
                  <a:pt x="32548" y="386115"/>
                </a:lnTo>
                <a:lnTo>
                  <a:pt x="55816" y="422767"/>
                </a:lnTo>
                <a:lnTo>
                  <a:pt x="84013" y="453006"/>
                </a:lnTo>
                <a:lnTo>
                  <a:pt x="116371" y="475839"/>
                </a:lnTo>
                <a:lnTo>
                  <a:pt x="152123" y="490268"/>
                </a:lnTo>
                <a:lnTo>
                  <a:pt x="190500" y="495300"/>
                </a:lnTo>
                <a:lnTo>
                  <a:pt x="228876" y="490268"/>
                </a:lnTo>
                <a:lnTo>
                  <a:pt x="264628" y="475839"/>
                </a:lnTo>
                <a:lnTo>
                  <a:pt x="296986" y="453006"/>
                </a:lnTo>
                <a:lnTo>
                  <a:pt x="325183" y="422767"/>
                </a:lnTo>
                <a:lnTo>
                  <a:pt x="348451" y="386115"/>
                </a:lnTo>
                <a:lnTo>
                  <a:pt x="366021" y="344048"/>
                </a:lnTo>
                <a:lnTo>
                  <a:pt x="377127" y="297561"/>
                </a:lnTo>
                <a:lnTo>
                  <a:pt x="381000" y="247650"/>
                </a:lnTo>
                <a:lnTo>
                  <a:pt x="377127" y="197738"/>
                </a:lnTo>
                <a:lnTo>
                  <a:pt x="366021" y="151251"/>
                </a:lnTo>
                <a:lnTo>
                  <a:pt x="348451" y="109184"/>
                </a:lnTo>
                <a:lnTo>
                  <a:pt x="325183" y="72532"/>
                </a:lnTo>
                <a:lnTo>
                  <a:pt x="296986" y="42293"/>
                </a:lnTo>
                <a:lnTo>
                  <a:pt x="264628" y="19460"/>
                </a:lnTo>
                <a:lnTo>
                  <a:pt x="228876" y="5031"/>
                </a:lnTo>
                <a:lnTo>
                  <a:pt x="190500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205476" y="3810317"/>
            <a:ext cx="3082290" cy="149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3835"/>
              </a:lnSpc>
              <a:spcBef>
                <a:spcPts val="125"/>
              </a:spcBef>
            </a:pPr>
            <a:r>
              <a:rPr dirty="0" sz="3200" spc="-10">
                <a:solidFill>
                  <a:srgbClr val="888888"/>
                </a:solidFill>
                <a:latin typeface="Calibri"/>
                <a:cs typeface="Calibri"/>
              </a:rPr>
              <a:t>2024/2025</a:t>
            </a:r>
            <a:endParaRPr sz="3200">
              <a:latin typeface="Calibri"/>
              <a:cs typeface="Calibri"/>
            </a:endParaRPr>
          </a:p>
          <a:p>
            <a:pPr algn="ctr" marL="12700" marR="5080">
              <a:lnSpc>
                <a:spcPts val="3829"/>
              </a:lnSpc>
              <a:spcBef>
                <a:spcPts val="110"/>
              </a:spcBef>
            </a:pP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3200" spc="-5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3200" spc="-8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25">
                <a:solidFill>
                  <a:srgbClr val="888888"/>
                </a:solidFill>
                <a:latin typeface="Calibri"/>
                <a:cs typeface="Calibri"/>
              </a:rPr>
              <a:t>Art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and</a:t>
            </a:r>
            <a:r>
              <a:rPr dirty="0" sz="3200" spc="-4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888888"/>
                </a:solidFill>
                <a:latin typeface="Calibri"/>
                <a:cs typeface="Calibri"/>
              </a:rPr>
              <a:t>Media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244" y="751840"/>
            <a:ext cx="2410460" cy="915035"/>
          </a:xfrm>
          <a:prstGeom prst="rect"/>
        </p:spPr>
        <p:txBody>
          <a:bodyPr wrap="square" lIns="0" tIns="68580" rIns="0" bIns="0" rtlCol="0" vert="horz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540"/>
              </a:spcBef>
            </a:pPr>
            <a:r>
              <a:rPr dirty="0" sz="3050"/>
              <a:t>Some</a:t>
            </a:r>
            <a:r>
              <a:rPr dirty="0" sz="3050" spc="75"/>
              <a:t> </a:t>
            </a:r>
            <a:r>
              <a:rPr dirty="0" sz="3050"/>
              <a:t>things</a:t>
            </a:r>
            <a:r>
              <a:rPr dirty="0" sz="3050" spc="40"/>
              <a:t> </a:t>
            </a:r>
            <a:r>
              <a:rPr dirty="0" sz="3050" spc="-25"/>
              <a:t>to </a:t>
            </a:r>
            <a:r>
              <a:rPr dirty="0" sz="3050" spc="-10"/>
              <a:t>check</a:t>
            </a:r>
            <a:endParaRPr sz="3050"/>
          </a:p>
        </p:txBody>
      </p:sp>
      <p:sp>
        <p:nvSpPr>
          <p:cNvPr id="3" name="object 3" descr=""/>
          <p:cNvSpPr/>
          <p:nvPr/>
        </p:nvSpPr>
        <p:spPr>
          <a:xfrm>
            <a:off x="466725" y="1943100"/>
            <a:ext cx="3009900" cy="28575"/>
          </a:xfrm>
          <a:custGeom>
            <a:avLst/>
            <a:gdLst/>
            <a:ahLst/>
            <a:cxnLst/>
            <a:rect l="l" t="t" r="r" b="b"/>
            <a:pathLst>
              <a:path w="3009900" h="28575">
                <a:moveTo>
                  <a:pt x="3009900" y="0"/>
                </a:moveTo>
                <a:lnTo>
                  <a:pt x="0" y="0"/>
                </a:lnTo>
                <a:lnTo>
                  <a:pt x="0" y="28575"/>
                </a:lnTo>
                <a:lnTo>
                  <a:pt x="3009900" y="28575"/>
                </a:lnTo>
                <a:lnTo>
                  <a:pt x="30099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63244" y="3521646"/>
            <a:ext cx="2733040" cy="48577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90"/>
              </a:spcBef>
            </a:pPr>
            <a:r>
              <a:rPr dirty="0" sz="1550">
                <a:latin typeface="Calibri"/>
                <a:cs typeface="Calibri"/>
              </a:rPr>
              <a:t>Processing</a:t>
            </a:r>
            <a:r>
              <a:rPr dirty="0" sz="1550" spc="20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reference: </a:t>
            </a:r>
            <a:r>
              <a:rPr dirty="0" u="sng" sz="15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https://processing.org/reference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7625" y="5762625"/>
            <a:ext cx="114300" cy="733425"/>
          </a:xfrm>
          <a:custGeom>
            <a:avLst/>
            <a:gdLst/>
            <a:ahLst/>
            <a:cxnLst/>
            <a:rect l="l" t="t" r="r" b="b"/>
            <a:pathLst>
              <a:path w="114300" h="733425">
                <a:moveTo>
                  <a:pt x="114300" y="0"/>
                </a:moveTo>
                <a:lnTo>
                  <a:pt x="0" y="0"/>
                </a:lnTo>
                <a:lnTo>
                  <a:pt x="0" y="733425"/>
                </a:lnTo>
                <a:lnTo>
                  <a:pt x="114300" y="733425"/>
                </a:lnTo>
                <a:lnTo>
                  <a:pt x="1143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266700" y="323786"/>
            <a:ext cx="8877300" cy="6215380"/>
            <a:chOff x="266700" y="323786"/>
            <a:chExt cx="8877300" cy="6215380"/>
          </a:xfrm>
        </p:grpSpPr>
        <p:sp>
          <p:nvSpPr>
            <p:cNvPr id="7" name="object 7" descr=""/>
            <p:cNvSpPr/>
            <p:nvPr/>
          </p:nvSpPr>
          <p:spPr>
            <a:xfrm>
              <a:off x="266700" y="5762625"/>
              <a:ext cx="8877300" cy="742950"/>
            </a:xfrm>
            <a:custGeom>
              <a:avLst/>
              <a:gdLst/>
              <a:ahLst/>
              <a:cxnLst/>
              <a:rect l="l" t="t" r="r" b="b"/>
              <a:pathLst>
                <a:path w="8877300" h="742950">
                  <a:moveTo>
                    <a:pt x="8877300" y="0"/>
                  </a:moveTo>
                  <a:lnTo>
                    <a:pt x="0" y="0"/>
                  </a:lnTo>
                  <a:lnTo>
                    <a:pt x="0" y="742950"/>
                  </a:lnTo>
                  <a:lnTo>
                    <a:pt x="8877300" y="742950"/>
                  </a:lnTo>
                  <a:lnTo>
                    <a:pt x="88773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24325" y="323786"/>
              <a:ext cx="4938776" cy="621512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276725" y="352425"/>
              <a:ext cx="4638675" cy="5915025"/>
            </a:xfrm>
            <a:custGeom>
              <a:avLst/>
              <a:gdLst/>
              <a:ahLst/>
              <a:cxnLst/>
              <a:rect l="l" t="t" r="r" b="b"/>
              <a:pathLst>
                <a:path w="4638675" h="5915025">
                  <a:moveTo>
                    <a:pt x="4638675" y="0"/>
                  </a:moveTo>
                  <a:lnTo>
                    <a:pt x="0" y="0"/>
                  </a:lnTo>
                  <a:lnTo>
                    <a:pt x="0" y="5915025"/>
                  </a:lnTo>
                  <a:lnTo>
                    <a:pt x="4638675" y="5915025"/>
                  </a:lnTo>
                  <a:lnTo>
                    <a:pt x="4638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74019" y="1204404"/>
              <a:ext cx="3821429" cy="4211320"/>
            </a:xfrm>
            <a:custGeom>
              <a:avLst/>
              <a:gdLst/>
              <a:ahLst/>
              <a:cxnLst/>
              <a:rect l="l" t="t" r="r" b="b"/>
              <a:pathLst>
                <a:path w="3821429" h="4211320">
                  <a:moveTo>
                    <a:pt x="406196" y="1904390"/>
                  </a:moveTo>
                  <a:lnTo>
                    <a:pt x="399808" y="1872869"/>
                  </a:lnTo>
                  <a:lnTo>
                    <a:pt x="382384" y="1847151"/>
                  </a:lnTo>
                  <a:lnTo>
                    <a:pt x="356539" y="1829816"/>
                  </a:lnTo>
                  <a:lnTo>
                    <a:pt x="324916" y="1823466"/>
                  </a:lnTo>
                  <a:lnTo>
                    <a:pt x="81241" y="1823466"/>
                  </a:lnTo>
                  <a:lnTo>
                    <a:pt x="49631" y="1829816"/>
                  </a:lnTo>
                  <a:lnTo>
                    <a:pt x="23799" y="1847151"/>
                  </a:lnTo>
                  <a:lnTo>
                    <a:pt x="6388" y="1872869"/>
                  </a:lnTo>
                  <a:lnTo>
                    <a:pt x="0" y="1904390"/>
                  </a:lnTo>
                  <a:lnTo>
                    <a:pt x="6388" y="1935937"/>
                  </a:lnTo>
                  <a:lnTo>
                    <a:pt x="23799" y="1961692"/>
                  </a:lnTo>
                  <a:lnTo>
                    <a:pt x="49631" y="1979066"/>
                  </a:lnTo>
                  <a:lnTo>
                    <a:pt x="81241" y="1985441"/>
                  </a:lnTo>
                  <a:lnTo>
                    <a:pt x="324916" y="1985441"/>
                  </a:lnTo>
                  <a:lnTo>
                    <a:pt x="356539" y="1979066"/>
                  </a:lnTo>
                  <a:lnTo>
                    <a:pt x="382384" y="1961692"/>
                  </a:lnTo>
                  <a:lnTo>
                    <a:pt x="399808" y="1935937"/>
                  </a:lnTo>
                  <a:lnTo>
                    <a:pt x="406196" y="1904390"/>
                  </a:lnTo>
                  <a:close/>
                </a:path>
                <a:path w="3821429" h="4211320">
                  <a:moveTo>
                    <a:pt x="617956" y="2684615"/>
                  </a:moveTo>
                  <a:lnTo>
                    <a:pt x="607707" y="2654198"/>
                  </a:lnTo>
                  <a:lnTo>
                    <a:pt x="586409" y="2629979"/>
                  </a:lnTo>
                  <a:lnTo>
                    <a:pt x="558457" y="2616365"/>
                  </a:lnTo>
                  <a:lnTo>
                    <a:pt x="527392" y="2614257"/>
                  </a:lnTo>
                  <a:lnTo>
                    <a:pt x="496785" y="2624582"/>
                  </a:lnTo>
                  <a:lnTo>
                    <a:pt x="285635" y="2745879"/>
                  </a:lnTo>
                  <a:lnTo>
                    <a:pt x="261454" y="2767165"/>
                  </a:lnTo>
                  <a:lnTo>
                    <a:pt x="247764" y="2795066"/>
                  </a:lnTo>
                  <a:lnTo>
                    <a:pt x="245554" y="2826016"/>
                  </a:lnTo>
                  <a:lnTo>
                    <a:pt x="255790" y="2856420"/>
                  </a:lnTo>
                  <a:lnTo>
                    <a:pt x="269189" y="2873756"/>
                  </a:lnTo>
                  <a:lnTo>
                    <a:pt x="286143" y="2886443"/>
                  </a:lnTo>
                  <a:lnTo>
                    <a:pt x="305536" y="2894241"/>
                  </a:lnTo>
                  <a:lnTo>
                    <a:pt x="326263" y="2896895"/>
                  </a:lnTo>
                  <a:lnTo>
                    <a:pt x="336613" y="2896235"/>
                  </a:lnTo>
                  <a:lnTo>
                    <a:pt x="577850" y="2764739"/>
                  </a:lnTo>
                  <a:lnTo>
                    <a:pt x="615772" y="2715552"/>
                  </a:lnTo>
                  <a:lnTo>
                    <a:pt x="617956" y="2684615"/>
                  </a:lnTo>
                  <a:close/>
                </a:path>
                <a:path w="3821429" h="4211320">
                  <a:moveTo>
                    <a:pt x="618045" y="1124178"/>
                  </a:moveTo>
                  <a:lnTo>
                    <a:pt x="602221" y="1065288"/>
                  </a:lnTo>
                  <a:lnTo>
                    <a:pt x="367004" y="922540"/>
                  </a:lnTo>
                  <a:lnTo>
                    <a:pt x="336397" y="912291"/>
                  </a:lnTo>
                  <a:lnTo>
                    <a:pt x="305333" y="914488"/>
                  </a:lnTo>
                  <a:lnTo>
                    <a:pt x="277355" y="928128"/>
                  </a:lnTo>
                  <a:lnTo>
                    <a:pt x="255993" y="952258"/>
                  </a:lnTo>
                  <a:lnTo>
                    <a:pt x="245745" y="982726"/>
                  </a:lnTo>
                  <a:lnTo>
                    <a:pt x="247916" y="1013714"/>
                  </a:lnTo>
                  <a:lnTo>
                    <a:pt x="285711" y="1062913"/>
                  </a:lnTo>
                  <a:lnTo>
                    <a:pt x="496785" y="1184313"/>
                  </a:lnTo>
                  <a:lnTo>
                    <a:pt x="537337" y="1195171"/>
                  </a:lnTo>
                  <a:lnTo>
                    <a:pt x="558088" y="1192491"/>
                  </a:lnTo>
                  <a:lnTo>
                    <a:pt x="577443" y="1184630"/>
                  </a:lnTo>
                  <a:lnTo>
                    <a:pt x="594347" y="1171905"/>
                  </a:lnTo>
                  <a:lnTo>
                    <a:pt x="607771" y="1154595"/>
                  </a:lnTo>
                  <a:lnTo>
                    <a:pt x="618045" y="1124178"/>
                  </a:lnTo>
                  <a:close/>
                </a:path>
                <a:path w="3821429" h="4211320">
                  <a:moveTo>
                    <a:pt x="1198397" y="525678"/>
                  </a:moveTo>
                  <a:lnTo>
                    <a:pt x="1066279" y="284810"/>
                  </a:lnTo>
                  <a:lnTo>
                    <a:pt x="1016914" y="247065"/>
                  </a:lnTo>
                  <a:lnTo>
                    <a:pt x="985850" y="244932"/>
                  </a:lnTo>
                  <a:lnTo>
                    <a:pt x="955255" y="255206"/>
                  </a:lnTo>
                  <a:lnTo>
                    <a:pt x="931049" y="276466"/>
                  </a:lnTo>
                  <a:lnTo>
                    <a:pt x="917384" y="304368"/>
                  </a:lnTo>
                  <a:lnTo>
                    <a:pt x="915212" y="335330"/>
                  </a:lnTo>
                  <a:lnTo>
                    <a:pt x="925474" y="365861"/>
                  </a:lnTo>
                  <a:lnTo>
                    <a:pt x="1047369" y="576199"/>
                  </a:lnTo>
                  <a:lnTo>
                    <a:pt x="1077696" y="606183"/>
                  </a:lnTo>
                  <a:lnTo>
                    <a:pt x="1117828" y="616673"/>
                  </a:lnTo>
                  <a:lnTo>
                    <a:pt x="1128166" y="616013"/>
                  </a:lnTo>
                  <a:lnTo>
                    <a:pt x="1182611" y="584542"/>
                  </a:lnTo>
                  <a:lnTo>
                    <a:pt x="1198397" y="525678"/>
                  </a:lnTo>
                  <a:close/>
                </a:path>
                <a:path w="3821429" h="4211320">
                  <a:moveTo>
                    <a:pt x="1991652" y="81051"/>
                  </a:moveTo>
                  <a:lnTo>
                    <a:pt x="1985289" y="49504"/>
                  </a:lnTo>
                  <a:lnTo>
                    <a:pt x="1967915" y="23749"/>
                  </a:lnTo>
                  <a:lnTo>
                    <a:pt x="1942134" y="6375"/>
                  </a:lnTo>
                  <a:lnTo>
                    <a:pt x="1910537" y="0"/>
                  </a:lnTo>
                  <a:lnTo>
                    <a:pt x="1878926" y="6375"/>
                  </a:lnTo>
                  <a:lnTo>
                    <a:pt x="1853107" y="23749"/>
                  </a:lnTo>
                  <a:lnTo>
                    <a:pt x="1835696" y="49504"/>
                  </a:lnTo>
                  <a:lnTo>
                    <a:pt x="1829308" y="81051"/>
                  </a:lnTo>
                  <a:lnTo>
                    <a:pt x="1829308" y="323850"/>
                  </a:lnTo>
                  <a:lnTo>
                    <a:pt x="1835696" y="355447"/>
                  </a:lnTo>
                  <a:lnTo>
                    <a:pt x="1853107" y="381203"/>
                  </a:lnTo>
                  <a:lnTo>
                    <a:pt x="1878926" y="398551"/>
                  </a:lnTo>
                  <a:lnTo>
                    <a:pt x="1910537" y="404901"/>
                  </a:lnTo>
                  <a:lnTo>
                    <a:pt x="1942134" y="398551"/>
                  </a:lnTo>
                  <a:lnTo>
                    <a:pt x="1967915" y="381215"/>
                  </a:lnTo>
                  <a:lnTo>
                    <a:pt x="1985289" y="355485"/>
                  </a:lnTo>
                  <a:lnTo>
                    <a:pt x="1991652" y="323964"/>
                  </a:lnTo>
                  <a:lnTo>
                    <a:pt x="1991652" y="81051"/>
                  </a:lnTo>
                  <a:close/>
                </a:path>
                <a:path w="3821429" h="4211320">
                  <a:moveTo>
                    <a:pt x="2106079" y="1413624"/>
                  </a:moveTo>
                  <a:lnTo>
                    <a:pt x="2101735" y="1363459"/>
                  </a:lnTo>
                  <a:lnTo>
                    <a:pt x="2088934" y="1320876"/>
                  </a:lnTo>
                  <a:lnTo>
                    <a:pt x="2068042" y="1285925"/>
                  </a:lnTo>
                  <a:lnTo>
                    <a:pt x="2039391" y="1258671"/>
                  </a:lnTo>
                  <a:lnTo>
                    <a:pt x="2003336" y="1239139"/>
                  </a:lnTo>
                  <a:lnTo>
                    <a:pt x="1960232" y="1227391"/>
                  </a:lnTo>
                  <a:lnTo>
                    <a:pt x="1910422" y="1223467"/>
                  </a:lnTo>
                  <a:lnTo>
                    <a:pt x="1860613" y="1227391"/>
                  </a:lnTo>
                  <a:lnTo>
                    <a:pt x="1817509" y="1239126"/>
                  </a:lnTo>
                  <a:lnTo>
                    <a:pt x="1781467" y="1258633"/>
                  </a:lnTo>
                  <a:lnTo>
                    <a:pt x="1752815" y="1285887"/>
                  </a:lnTo>
                  <a:lnTo>
                    <a:pt x="1731911" y="1320825"/>
                  </a:lnTo>
                  <a:lnTo>
                    <a:pt x="1719122" y="1363421"/>
                  </a:lnTo>
                  <a:lnTo>
                    <a:pt x="1714779" y="1413624"/>
                  </a:lnTo>
                  <a:lnTo>
                    <a:pt x="1714779" y="1699971"/>
                  </a:lnTo>
                  <a:lnTo>
                    <a:pt x="1717865" y="1757032"/>
                  </a:lnTo>
                  <a:lnTo>
                    <a:pt x="1724672" y="1815896"/>
                  </a:lnTo>
                  <a:lnTo>
                    <a:pt x="1801609" y="2393518"/>
                  </a:lnTo>
                  <a:lnTo>
                    <a:pt x="1813712" y="2438069"/>
                  </a:lnTo>
                  <a:lnTo>
                    <a:pt x="1867763" y="2480780"/>
                  </a:lnTo>
                  <a:lnTo>
                    <a:pt x="1910537" y="2484983"/>
                  </a:lnTo>
                  <a:lnTo>
                    <a:pt x="1953310" y="2480780"/>
                  </a:lnTo>
                  <a:lnTo>
                    <a:pt x="2007400" y="2438069"/>
                  </a:lnTo>
                  <a:lnTo>
                    <a:pt x="2019566" y="2393518"/>
                  </a:lnTo>
                  <a:lnTo>
                    <a:pt x="2096287" y="1815896"/>
                  </a:lnTo>
                  <a:lnTo>
                    <a:pt x="2103043" y="1757032"/>
                  </a:lnTo>
                  <a:lnTo>
                    <a:pt x="2106079" y="1699971"/>
                  </a:lnTo>
                  <a:lnTo>
                    <a:pt x="2106079" y="1413624"/>
                  </a:lnTo>
                  <a:close/>
                </a:path>
                <a:path w="3821429" h="4211320">
                  <a:moveTo>
                    <a:pt x="2113546" y="2847759"/>
                  </a:moveTo>
                  <a:lnTo>
                    <a:pt x="2108187" y="2801556"/>
                  </a:lnTo>
                  <a:lnTo>
                    <a:pt x="2092845" y="2759024"/>
                  </a:lnTo>
                  <a:lnTo>
                    <a:pt x="2068791" y="2721394"/>
                  </a:lnTo>
                  <a:lnTo>
                    <a:pt x="2037270" y="2689949"/>
                  </a:lnTo>
                  <a:lnTo>
                    <a:pt x="1999538" y="2665933"/>
                  </a:lnTo>
                  <a:lnTo>
                    <a:pt x="1956879" y="2650591"/>
                  </a:lnTo>
                  <a:lnTo>
                    <a:pt x="1910537" y="2645206"/>
                  </a:lnTo>
                  <a:lnTo>
                    <a:pt x="1864156" y="2650591"/>
                  </a:lnTo>
                  <a:lnTo>
                    <a:pt x="1821472" y="2665933"/>
                  </a:lnTo>
                  <a:lnTo>
                    <a:pt x="1783753" y="2689949"/>
                  </a:lnTo>
                  <a:lnTo>
                    <a:pt x="1752231" y="2721394"/>
                  </a:lnTo>
                  <a:lnTo>
                    <a:pt x="1728165" y="2759024"/>
                  </a:lnTo>
                  <a:lnTo>
                    <a:pt x="1712810" y="2801556"/>
                  </a:lnTo>
                  <a:lnTo>
                    <a:pt x="1707413" y="2847759"/>
                  </a:lnTo>
                  <a:lnTo>
                    <a:pt x="1712810" y="2893949"/>
                  </a:lnTo>
                  <a:lnTo>
                    <a:pt x="1728190" y="2936456"/>
                  </a:lnTo>
                  <a:lnTo>
                    <a:pt x="1752269" y="2974035"/>
                  </a:lnTo>
                  <a:lnTo>
                    <a:pt x="1783803" y="3005442"/>
                  </a:lnTo>
                  <a:lnTo>
                    <a:pt x="1821522" y="3029420"/>
                  </a:lnTo>
                  <a:lnTo>
                    <a:pt x="1864194" y="3044723"/>
                  </a:lnTo>
                  <a:lnTo>
                    <a:pt x="1910537" y="3050095"/>
                  </a:lnTo>
                  <a:lnTo>
                    <a:pt x="1956879" y="3044723"/>
                  </a:lnTo>
                  <a:lnTo>
                    <a:pt x="1999526" y="3029420"/>
                  </a:lnTo>
                  <a:lnTo>
                    <a:pt x="2037232" y="3005442"/>
                  </a:lnTo>
                  <a:lnTo>
                    <a:pt x="2068741" y="2974035"/>
                  </a:lnTo>
                  <a:lnTo>
                    <a:pt x="2092794" y="2936456"/>
                  </a:lnTo>
                  <a:lnTo>
                    <a:pt x="2108149" y="2893949"/>
                  </a:lnTo>
                  <a:lnTo>
                    <a:pt x="2113546" y="2847759"/>
                  </a:lnTo>
                  <a:close/>
                </a:path>
                <a:path w="3821429" h="4211320">
                  <a:moveTo>
                    <a:pt x="2905671" y="335381"/>
                  </a:moveTo>
                  <a:lnTo>
                    <a:pt x="2903537" y="304419"/>
                  </a:lnTo>
                  <a:lnTo>
                    <a:pt x="2889910" y="276529"/>
                  </a:lnTo>
                  <a:lnTo>
                    <a:pt x="2865704" y="255308"/>
                  </a:lnTo>
                  <a:lnTo>
                    <a:pt x="2835110" y="244983"/>
                  </a:lnTo>
                  <a:lnTo>
                    <a:pt x="2804058" y="247091"/>
                  </a:lnTo>
                  <a:lnTo>
                    <a:pt x="2776067" y="260705"/>
                  </a:lnTo>
                  <a:lnTo>
                    <a:pt x="2754680" y="284924"/>
                  </a:lnTo>
                  <a:lnTo>
                    <a:pt x="2633014" y="495160"/>
                  </a:lnTo>
                  <a:lnTo>
                    <a:pt x="2622753" y="525614"/>
                  </a:lnTo>
                  <a:lnTo>
                    <a:pt x="2624937" y="556564"/>
                  </a:lnTo>
                  <a:lnTo>
                    <a:pt x="2662682" y="605701"/>
                  </a:lnTo>
                  <a:lnTo>
                    <a:pt x="2703245" y="616559"/>
                  </a:lnTo>
                  <a:lnTo>
                    <a:pt x="2723946" y="613892"/>
                  </a:lnTo>
                  <a:lnTo>
                    <a:pt x="2760230" y="593382"/>
                  </a:lnTo>
                  <a:lnTo>
                    <a:pt x="2895384" y="365861"/>
                  </a:lnTo>
                  <a:lnTo>
                    <a:pt x="2905671" y="335381"/>
                  </a:lnTo>
                  <a:close/>
                </a:path>
                <a:path w="3821429" h="4211320">
                  <a:moveTo>
                    <a:pt x="3195777" y="1887156"/>
                  </a:moveTo>
                  <a:lnTo>
                    <a:pt x="3194837" y="1849056"/>
                  </a:lnTo>
                  <a:lnTo>
                    <a:pt x="3192068" y="1798256"/>
                  </a:lnTo>
                  <a:lnTo>
                    <a:pt x="3187484" y="1747456"/>
                  </a:lnTo>
                  <a:lnTo>
                    <a:pt x="3181146" y="1709356"/>
                  </a:lnTo>
                  <a:lnTo>
                    <a:pt x="3173057" y="1658556"/>
                  </a:lnTo>
                  <a:lnTo>
                    <a:pt x="3163265" y="1620456"/>
                  </a:lnTo>
                  <a:lnTo>
                    <a:pt x="3151809" y="1569656"/>
                  </a:lnTo>
                  <a:lnTo>
                    <a:pt x="3138728" y="1531556"/>
                  </a:lnTo>
                  <a:lnTo>
                    <a:pt x="3124035" y="1480756"/>
                  </a:lnTo>
                  <a:lnTo>
                    <a:pt x="3107766" y="1442656"/>
                  </a:lnTo>
                  <a:lnTo>
                    <a:pt x="3089973" y="1404556"/>
                  </a:lnTo>
                  <a:lnTo>
                    <a:pt x="3070669" y="1353756"/>
                  </a:lnTo>
                  <a:lnTo>
                    <a:pt x="3049905" y="1315656"/>
                  </a:lnTo>
                  <a:lnTo>
                    <a:pt x="3027705" y="1277556"/>
                  </a:lnTo>
                  <a:lnTo>
                    <a:pt x="3004096" y="1239456"/>
                  </a:lnTo>
                  <a:lnTo>
                    <a:pt x="2979128" y="1201356"/>
                  </a:lnTo>
                  <a:lnTo>
                    <a:pt x="2952826" y="1163256"/>
                  </a:lnTo>
                  <a:lnTo>
                    <a:pt x="2925216" y="1137856"/>
                  </a:lnTo>
                  <a:lnTo>
                    <a:pt x="2896349" y="1099756"/>
                  </a:lnTo>
                  <a:lnTo>
                    <a:pt x="2870873" y="1067511"/>
                  </a:lnTo>
                  <a:lnTo>
                    <a:pt x="2870873" y="1887156"/>
                  </a:lnTo>
                  <a:lnTo>
                    <a:pt x="2869311" y="1950656"/>
                  </a:lnTo>
                  <a:lnTo>
                    <a:pt x="2864777" y="2014156"/>
                  </a:lnTo>
                  <a:lnTo>
                    <a:pt x="2857500" y="2077656"/>
                  </a:lnTo>
                  <a:lnTo>
                    <a:pt x="2847695" y="2128456"/>
                  </a:lnTo>
                  <a:lnTo>
                    <a:pt x="2835592" y="2179256"/>
                  </a:lnTo>
                  <a:lnTo>
                    <a:pt x="2821406" y="2230056"/>
                  </a:lnTo>
                  <a:lnTo>
                    <a:pt x="2805366" y="2268156"/>
                  </a:lnTo>
                  <a:lnTo>
                    <a:pt x="2787675" y="2318956"/>
                  </a:lnTo>
                  <a:lnTo>
                    <a:pt x="2768574" y="2357056"/>
                  </a:lnTo>
                  <a:lnTo>
                    <a:pt x="2748280" y="2395156"/>
                  </a:lnTo>
                  <a:lnTo>
                    <a:pt x="2727020" y="2433256"/>
                  </a:lnTo>
                  <a:lnTo>
                    <a:pt x="2704998" y="2471356"/>
                  </a:lnTo>
                  <a:lnTo>
                    <a:pt x="2682456" y="2509456"/>
                  </a:lnTo>
                  <a:lnTo>
                    <a:pt x="2659608" y="2547556"/>
                  </a:lnTo>
                  <a:lnTo>
                    <a:pt x="2636672" y="2572956"/>
                  </a:lnTo>
                  <a:lnTo>
                    <a:pt x="2613888" y="2611056"/>
                  </a:lnTo>
                  <a:lnTo>
                    <a:pt x="2585643" y="2649156"/>
                  </a:lnTo>
                  <a:lnTo>
                    <a:pt x="2558224" y="2699956"/>
                  </a:lnTo>
                  <a:lnTo>
                    <a:pt x="2532138" y="2738056"/>
                  </a:lnTo>
                  <a:lnTo>
                    <a:pt x="2507894" y="2776156"/>
                  </a:lnTo>
                  <a:lnTo>
                    <a:pt x="2485999" y="2814256"/>
                  </a:lnTo>
                  <a:lnTo>
                    <a:pt x="2466949" y="2865056"/>
                  </a:lnTo>
                  <a:lnTo>
                    <a:pt x="2451252" y="2903156"/>
                  </a:lnTo>
                  <a:lnTo>
                    <a:pt x="2439416" y="2953956"/>
                  </a:lnTo>
                  <a:lnTo>
                    <a:pt x="2431935" y="3004756"/>
                  </a:lnTo>
                  <a:lnTo>
                    <a:pt x="2429332" y="3055556"/>
                  </a:lnTo>
                  <a:lnTo>
                    <a:pt x="2421674" y="3106356"/>
                  </a:lnTo>
                  <a:lnTo>
                    <a:pt x="2401481" y="3144456"/>
                  </a:lnTo>
                  <a:lnTo>
                    <a:pt x="2372944" y="3169856"/>
                  </a:lnTo>
                  <a:lnTo>
                    <a:pt x="2340279" y="3207956"/>
                  </a:lnTo>
                  <a:lnTo>
                    <a:pt x="2307666" y="3233356"/>
                  </a:lnTo>
                  <a:lnTo>
                    <a:pt x="1513522" y="3233356"/>
                  </a:lnTo>
                  <a:lnTo>
                    <a:pt x="1480908" y="3207956"/>
                  </a:lnTo>
                  <a:lnTo>
                    <a:pt x="1448231" y="3169856"/>
                  </a:lnTo>
                  <a:lnTo>
                    <a:pt x="1419707" y="3144456"/>
                  </a:lnTo>
                  <a:lnTo>
                    <a:pt x="1399501" y="3106356"/>
                  </a:lnTo>
                  <a:lnTo>
                    <a:pt x="1391843" y="3055556"/>
                  </a:lnTo>
                  <a:lnTo>
                    <a:pt x="1389240" y="3004756"/>
                  </a:lnTo>
                  <a:lnTo>
                    <a:pt x="1381747" y="2953956"/>
                  </a:lnTo>
                  <a:lnTo>
                    <a:pt x="1369885" y="2903156"/>
                  </a:lnTo>
                  <a:lnTo>
                    <a:pt x="1354137" y="2865056"/>
                  </a:lnTo>
                  <a:lnTo>
                    <a:pt x="1334998" y="2814256"/>
                  </a:lnTo>
                  <a:lnTo>
                    <a:pt x="1313002" y="2776156"/>
                  </a:lnTo>
                  <a:lnTo>
                    <a:pt x="1288618" y="2738056"/>
                  </a:lnTo>
                  <a:lnTo>
                    <a:pt x="1262354" y="2687256"/>
                  </a:lnTo>
                  <a:lnTo>
                    <a:pt x="1234706" y="2649156"/>
                  </a:lnTo>
                  <a:lnTo>
                    <a:pt x="1183576" y="2572956"/>
                  </a:lnTo>
                  <a:lnTo>
                    <a:pt x="1160805" y="2547556"/>
                  </a:lnTo>
                  <a:lnTo>
                    <a:pt x="1138110" y="2509456"/>
                  </a:lnTo>
                  <a:lnTo>
                    <a:pt x="1115695" y="2471356"/>
                  </a:lnTo>
                  <a:lnTo>
                    <a:pt x="1093787" y="2433256"/>
                  </a:lnTo>
                  <a:lnTo>
                    <a:pt x="1072616" y="2395156"/>
                  </a:lnTo>
                  <a:lnTo>
                    <a:pt x="1052410" y="2357056"/>
                  </a:lnTo>
                  <a:lnTo>
                    <a:pt x="1033386" y="2318956"/>
                  </a:lnTo>
                  <a:lnTo>
                    <a:pt x="1015758" y="2268156"/>
                  </a:lnTo>
                  <a:lnTo>
                    <a:pt x="999756" y="2230056"/>
                  </a:lnTo>
                  <a:lnTo>
                    <a:pt x="985621" y="2179256"/>
                  </a:lnTo>
                  <a:lnTo>
                    <a:pt x="973543" y="2128456"/>
                  </a:lnTo>
                  <a:lnTo>
                    <a:pt x="963764" y="2077656"/>
                  </a:lnTo>
                  <a:lnTo>
                    <a:pt x="956500" y="2014156"/>
                  </a:lnTo>
                  <a:lnTo>
                    <a:pt x="951979" y="1950656"/>
                  </a:lnTo>
                  <a:lnTo>
                    <a:pt x="950429" y="1887156"/>
                  </a:lnTo>
                  <a:lnTo>
                    <a:pt x="951674" y="1849056"/>
                  </a:lnTo>
                  <a:lnTo>
                    <a:pt x="955395" y="1798256"/>
                  </a:lnTo>
                  <a:lnTo>
                    <a:pt x="961504" y="1760156"/>
                  </a:lnTo>
                  <a:lnTo>
                    <a:pt x="969962" y="1709356"/>
                  </a:lnTo>
                  <a:lnTo>
                    <a:pt x="980706" y="1658556"/>
                  </a:lnTo>
                  <a:lnTo>
                    <a:pt x="993660" y="1620456"/>
                  </a:lnTo>
                  <a:lnTo>
                    <a:pt x="1008786" y="1582356"/>
                  </a:lnTo>
                  <a:lnTo>
                    <a:pt x="1026007" y="1531556"/>
                  </a:lnTo>
                  <a:lnTo>
                    <a:pt x="1045260" y="1493456"/>
                  </a:lnTo>
                  <a:lnTo>
                    <a:pt x="1066495" y="1455356"/>
                  </a:lnTo>
                  <a:lnTo>
                    <a:pt x="1089634" y="1417256"/>
                  </a:lnTo>
                  <a:lnTo>
                    <a:pt x="1114640" y="1379156"/>
                  </a:lnTo>
                  <a:lnTo>
                    <a:pt x="1141437" y="1341056"/>
                  </a:lnTo>
                  <a:lnTo>
                    <a:pt x="1169962" y="1315656"/>
                  </a:lnTo>
                  <a:lnTo>
                    <a:pt x="1200175" y="1277556"/>
                  </a:lnTo>
                  <a:lnTo>
                    <a:pt x="1231988" y="1252156"/>
                  </a:lnTo>
                  <a:lnTo>
                    <a:pt x="1265351" y="1214056"/>
                  </a:lnTo>
                  <a:lnTo>
                    <a:pt x="1300213" y="1188656"/>
                  </a:lnTo>
                  <a:lnTo>
                    <a:pt x="1336497" y="1163256"/>
                  </a:lnTo>
                  <a:lnTo>
                    <a:pt x="1374152" y="1137856"/>
                  </a:lnTo>
                  <a:lnTo>
                    <a:pt x="1413116" y="1112456"/>
                  </a:lnTo>
                  <a:lnTo>
                    <a:pt x="1453324" y="1087056"/>
                  </a:lnTo>
                  <a:lnTo>
                    <a:pt x="1494726" y="1074356"/>
                  </a:lnTo>
                  <a:lnTo>
                    <a:pt x="1537246" y="1048956"/>
                  </a:lnTo>
                  <a:lnTo>
                    <a:pt x="1670951" y="1010856"/>
                  </a:lnTo>
                  <a:lnTo>
                    <a:pt x="1764614" y="985456"/>
                  </a:lnTo>
                  <a:lnTo>
                    <a:pt x="1861312" y="985456"/>
                  </a:lnTo>
                  <a:lnTo>
                    <a:pt x="1910651" y="972756"/>
                  </a:lnTo>
                  <a:lnTo>
                    <a:pt x="1959978" y="985456"/>
                  </a:lnTo>
                  <a:lnTo>
                    <a:pt x="2056676" y="985456"/>
                  </a:lnTo>
                  <a:lnTo>
                    <a:pt x="2150338" y="1010856"/>
                  </a:lnTo>
                  <a:lnTo>
                    <a:pt x="2284044" y="1048956"/>
                  </a:lnTo>
                  <a:lnTo>
                    <a:pt x="2326563" y="1074356"/>
                  </a:lnTo>
                  <a:lnTo>
                    <a:pt x="2367965" y="1087056"/>
                  </a:lnTo>
                  <a:lnTo>
                    <a:pt x="2408174" y="1112456"/>
                  </a:lnTo>
                  <a:lnTo>
                    <a:pt x="2447137" y="1137856"/>
                  </a:lnTo>
                  <a:lnTo>
                    <a:pt x="2484793" y="1163256"/>
                  </a:lnTo>
                  <a:lnTo>
                    <a:pt x="2521077" y="1188656"/>
                  </a:lnTo>
                  <a:lnTo>
                    <a:pt x="2555938" y="1214056"/>
                  </a:lnTo>
                  <a:lnTo>
                    <a:pt x="2589301" y="1252156"/>
                  </a:lnTo>
                  <a:lnTo>
                    <a:pt x="2621115" y="1277556"/>
                  </a:lnTo>
                  <a:lnTo>
                    <a:pt x="2651328" y="1315656"/>
                  </a:lnTo>
                  <a:lnTo>
                    <a:pt x="2679852" y="1341056"/>
                  </a:lnTo>
                  <a:lnTo>
                    <a:pt x="2706649" y="1379156"/>
                  </a:lnTo>
                  <a:lnTo>
                    <a:pt x="2731655" y="1417256"/>
                  </a:lnTo>
                  <a:lnTo>
                    <a:pt x="2754807" y="1455356"/>
                  </a:lnTo>
                  <a:lnTo>
                    <a:pt x="2776029" y="1493456"/>
                  </a:lnTo>
                  <a:lnTo>
                    <a:pt x="2795282" y="1531556"/>
                  </a:lnTo>
                  <a:lnTo>
                    <a:pt x="2812504" y="1582356"/>
                  </a:lnTo>
                  <a:lnTo>
                    <a:pt x="2827629" y="1620456"/>
                  </a:lnTo>
                  <a:lnTo>
                    <a:pt x="2840583" y="1658556"/>
                  </a:lnTo>
                  <a:lnTo>
                    <a:pt x="2851327" y="1709356"/>
                  </a:lnTo>
                  <a:lnTo>
                    <a:pt x="2859786" y="1747456"/>
                  </a:lnTo>
                  <a:lnTo>
                    <a:pt x="2865894" y="1798256"/>
                  </a:lnTo>
                  <a:lnTo>
                    <a:pt x="2869615" y="1849056"/>
                  </a:lnTo>
                  <a:lnTo>
                    <a:pt x="2870873" y="1887156"/>
                  </a:lnTo>
                  <a:lnTo>
                    <a:pt x="2870873" y="1067511"/>
                  </a:lnTo>
                  <a:lnTo>
                    <a:pt x="2866250" y="1061656"/>
                  </a:lnTo>
                  <a:lnTo>
                    <a:pt x="2834944" y="1036256"/>
                  </a:lnTo>
                  <a:lnTo>
                    <a:pt x="2802471" y="998156"/>
                  </a:lnTo>
                  <a:lnTo>
                    <a:pt x="2768866" y="972756"/>
                  </a:lnTo>
                  <a:lnTo>
                    <a:pt x="2734157" y="947356"/>
                  </a:lnTo>
                  <a:lnTo>
                    <a:pt x="2698394" y="909256"/>
                  </a:lnTo>
                  <a:lnTo>
                    <a:pt x="2661589" y="883856"/>
                  </a:lnTo>
                  <a:lnTo>
                    <a:pt x="2623794" y="858456"/>
                  </a:lnTo>
                  <a:lnTo>
                    <a:pt x="2585034" y="833056"/>
                  </a:lnTo>
                  <a:lnTo>
                    <a:pt x="2545334" y="820356"/>
                  </a:lnTo>
                  <a:lnTo>
                    <a:pt x="2504744" y="794956"/>
                  </a:lnTo>
                  <a:lnTo>
                    <a:pt x="2463279" y="769556"/>
                  </a:lnTo>
                  <a:lnTo>
                    <a:pt x="2377897" y="744156"/>
                  </a:lnTo>
                  <a:lnTo>
                    <a:pt x="2334044" y="718756"/>
                  </a:lnTo>
                  <a:lnTo>
                    <a:pt x="2198243" y="680656"/>
                  </a:lnTo>
                  <a:lnTo>
                    <a:pt x="2151672" y="680656"/>
                  </a:lnTo>
                  <a:lnTo>
                    <a:pt x="2104504" y="667956"/>
                  </a:lnTo>
                  <a:lnTo>
                    <a:pt x="2056777" y="667956"/>
                  </a:lnTo>
                  <a:lnTo>
                    <a:pt x="2008517" y="655256"/>
                  </a:lnTo>
                  <a:lnTo>
                    <a:pt x="1812569" y="655256"/>
                  </a:lnTo>
                  <a:lnTo>
                    <a:pt x="1764322" y="667956"/>
                  </a:lnTo>
                  <a:lnTo>
                    <a:pt x="1716595" y="667956"/>
                  </a:lnTo>
                  <a:lnTo>
                    <a:pt x="1669427" y="680656"/>
                  </a:lnTo>
                  <a:lnTo>
                    <a:pt x="1622869" y="680656"/>
                  </a:lnTo>
                  <a:lnTo>
                    <a:pt x="1487081" y="718756"/>
                  </a:lnTo>
                  <a:lnTo>
                    <a:pt x="1443228" y="744156"/>
                  </a:lnTo>
                  <a:lnTo>
                    <a:pt x="1357871" y="769556"/>
                  </a:lnTo>
                  <a:lnTo>
                    <a:pt x="1316405" y="794956"/>
                  </a:lnTo>
                  <a:lnTo>
                    <a:pt x="1275816" y="820356"/>
                  </a:lnTo>
                  <a:lnTo>
                    <a:pt x="1236129" y="833056"/>
                  </a:lnTo>
                  <a:lnTo>
                    <a:pt x="1197368" y="858456"/>
                  </a:lnTo>
                  <a:lnTo>
                    <a:pt x="1159573" y="883856"/>
                  </a:lnTo>
                  <a:lnTo>
                    <a:pt x="1122781" y="909256"/>
                  </a:lnTo>
                  <a:lnTo>
                    <a:pt x="1087018" y="947356"/>
                  </a:lnTo>
                  <a:lnTo>
                    <a:pt x="1052309" y="972756"/>
                  </a:lnTo>
                  <a:lnTo>
                    <a:pt x="1018717" y="998156"/>
                  </a:lnTo>
                  <a:lnTo>
                    <a:pt x="986243" y="1036256"/>
                  </a:lnTo>
                  <a:lnTo>
                    <a:pt x="954951" y="1061656"/>
                  </a:lnTo>
                  <a:lnTo>
                    <a:pt x="924852" y="1099756"/>
                  </a:lnTo>
                  <a:lnTo>
                    <a:pt x="895985" y="1137856"/>
                  </a:lnTo>
                  <a:lnTo>
                    <a:pt x="868375" y="1163256"/>
                  </a:lnTo>
                  <a:lnTo>
                    <a:pt x="842073" y="1201356"/>
                  </a:lnTo>
                  <a:lnTo>
                    <a:pt x="817118" y="1239456"/>
                  </a:lnTo>
                  <a:lnTo>
                    <a:pt x="793521" y="1277556"/>
                  </a:lnTo>
                  <a:lnTo>
                    <a:pt x="771321" y="1315656"/>
                  </a:lnTo>
                  <a:lnTo>
                    <a:pt x="750557" y="1366456"/>
                  </a:lnTo>
                  <a:lnTo>
                    <a:pt x="731266" y="1404556"/>
                  </a:lnTo>
                  <a:lnTo>
                    <a:pt x="713473" y="1442656"/>
                  </a:lnTo>
                  <a:lnTo>
                    <a:pt x="697217" y="1480756"/>
                  </a:lnTo>
                  <a:lnTo>
                    <a:pt x="682523" y="1531556"/>
                  </a:lnTo>
                  <a:lnTo>
                    <a:pt x="669442" y="1569656"/>
                  </a:lnTo>
                  <a:lnTo>
                    <a:pt x="657987" y="1620456"/>
                  </a:lnTo>
                  <a:lnTo>
                    <a:pt x="648208" y="1658556"/>
                  </a:lnTo>
                  <a:lnTo>
                    <a:pt x="640130" y="1709356"/>
                  </a:lnTo>
                  <a:lnTo>
                    <a:pt x="633793" y="1747456"/>
                  </a:lnTo>
                  <a:lnTo>
                    <a:pt x="629221" y="1798256"/>
                  </a:lnTo>
                  <a:lnTo>
                    <a:pt x="626452" y="1849056"/>
                  </a:lnTo>
                  <a:lnTo>
                    <a:pt x="625525" y="1887156"/>
                  </a:lnTo>
                  <a:lnTo>
                    <a:pt x="626846" y="1963356"/>
                  </a:lnTo>
                  <a:lnTo>
                    <a:pt x="630707" y="2026856"/>
                  </a:lnTo>
                  <a:lnTo>
                    <a:pt x="636930" y="2077656"/>
                  </a:lnTo>
                  <a:lnTo>
                    <a:pt x="645350" y="2141156"/>
                  </a:lnTo>
                  <a:lnTo>
                    <a:pt x="655789" y="2191956"/>
                  </a:lnTo>
                  <a:lnTo>
                    <a:pt x="668070" y="2242756"/>
                  </a:lnTo>
                  <a:lnTo>
                    <a:pt x="682040" y="2293556"/>
                  </a:lnTo>
                  <a:lnTo>
                    <a:pt x="697522" y="2344356"/>
                  </a:lnTo>
                  <a:lnTo>
                    <a:pt x="714349" y="2395156"/>
                  </a:lnTo>
                  <a:lnTo>
                    <a:pt x="732332" y="2433256"/>
                  </a:lnTo>
                  <a:lnTo>
                    <a:pt x="751306" y="2484056"/>
                  </a:lnTo>
                  <a:lnTo>
                    <a:pt x="771118" y="2522156"/>
                  </a:lnTo>
                  <a:lnTo>
                    <a:pt x="791578" y="2560256"/>
                  </a:lnTo>
                  <a:lnTo>
                    <a:pt x="812520" y="2598356"/>
                  </a:lnTo>
                  <a:lnTo>
                    <a:pt x="833780" y="2636456"/>
                  </a:lnTo>
                  <a:lnTo>
                    <a:pt x="855179" y="2661856"/>
                  </a:lnTo>
                  <a:lnTo>
                    <a:pt x="876554" y="2699956"/>
                  </a:lnTo>
                  <a:lnTo>
                    <a:pt x="897712" y="2738056"/>
                  </a:lnTo>
                  <a:lnTo>
                    <a:pt x="918514" y="2763456"/>
                  </a:lnTo>
                  <a:lnTo>
                    <a:pt x="938771" y="2788856"/>
                  </a:lnTo>
                  <a:lnTo>
                    <a:pt x="976642" y="2852356"/>
                  </a:lnTo>
                  <a:lnTo>
                    <a:pt x="1008291" y="2903156"/>
                  </a:lnTo>
                  <a:lnTo>
                    <a:pt x="1033411" y="2941256"/>
                  </a:lnTo>
                  <a:lnTo>
                    <a:pt x="1051712" y="2979356"/>
                  </a:lnTo>
                  <a:lnTo>
                    <a:pt x="1062913" y="3017456"/>
                  </a:lnTo>
                  <a:lnTo>
                    <a:pt x="1066711" y="3055556"/>
                  </a:lnTo>
                  <a:lnTo>
                    <a:pt x="1069289" y="3106356"/>
                  </a:lnTo>
                  <a:lnTo>
                    <a:pt x="1076934" y="3157156"/>
                  </a:lnTo>
                  <a:lnTo>
                    <a:pt x="1089545" y="3195256"/>
                  </a:lnTo>
                  <a:lnTo>
                    <a:pt x="1106982" y="3246056"/>
                  </a:lnTo>
                  <a:lnTo>
                    <a:pt x="1129144" y="3284156"/>
                  </a:lnTo>
                  <a:lnTo>
                    <a:pt x="1155915" y="3334956"/>
                  </a:lnTo>
                  <a:lnTo>
                    <a:pt x="1187157" y="3373056"/>
                  </a:lnTo>
                  <a:lnTo>
                    <a:pt x="1222781" y="3411156"/>
                  </a:lnTo>
                  <a:lnTo>
                    <a:pt x="1262659" y="3449256"/>
                  </a:lnTo>
                  <a:lnTo>
                    <a:pt x="1306664" y="3487356"/>
                  </a:lnTo>
                  <a:lnTo>
                    <a:pt x="1311148" y="3576256"/>
                  </a:lnTo>
                  <a:lnTo>
                    <a:pt x="1324686" y="3804856"/>
                  </a:lnTo>
                  <a:lnTo>
                    <a:pt x="1332928" y="3868356"/>
                  </a:lnTo>
                  <a:lnTo>
                    <a:pt x="1361351" y="3931856"/>
                  </a:lnTo>
                  <a:lnTo>
                    <a:pt x="1386446" y="3957256"/>
                  </a:lnTo>
                  <a:lnTo>
                    <a:pt x="1420571" y="3995356"/>
                  </a:lnTo>
                  <a:lnTo>
                    <a:pt x="1465046" y="4033456"/>
                  </a:lnTo>
                  <a:lnTo>
                    <a:pt x="1521193" y="4058856"/>
                  </a:lnTo>
                  <a:lnTo>
                    <a:pt x="1590357" y="4084256"/>
                  </a:lnTo>
                  <a:lnTo>
                    <a:pt x="1612099" y="4109656"/>
                  </a:lnTo>
                  <a:lnTo>
                    <a:pt x="1636903" y="4147756"/>
                  </a:lnTo>
                  <a:lnTo>
                    <a:pt x="1664665" y="4173156"/>
                  </a:lnTo>
                  <a:lnTo>
                    <a:pt x="1695323" y="4185856"/>
                  </a:lnTo>
                  <a:lnTo>
                    <a:pt x="1716278" y="4198556"/>
                  </a:lnTo>
                  <a:lnTo>
                    <a:pt x="1738668" y="4211256"/>
                  </a:lnTo>
                  <a:lnTo>
                    <a:pt x="2082457" y="4211256"/>
                  </a:lnTo>
                  <a:lnTo>
                    <a:pt x="2104809" y="4198556"/>
                  </a:lnTo>
                  <a:lnTo>
                    <a:pt x="2125751" y="4185856"/>
                  </a:lnTo>
                  <a:lnTo>
                    <a:pt x="2156485" y="4173156"/>
                  </a:lnTo>
                  <a:lnTo>
                    <a:pt x="2184298" y="4147756"/>
                  </a:lnTo>
                  <a:lnTo>
                    <a:pt x="2209076" y="4109656"/>
                  </a:lnTo>
                  <a:lnTo>
                    <a:pt x="2230717" y="4084256"/>
                  </a:lnTo>
                  <a:lnTo>
                    <a:pt x="2300452" y="4058856"/>
                  </a:lnTo>
                  <a:lnTo>
                    <a:pt x="2356955" y="4033456"/>
                  </a:lnTo>
                  <a:lnTo>
                    <a:pt x="2401608" y="3995356"/>
                  </a:lnTo>
                  <a:lnTo>
                    <a:pt x="2435745" y="3957256"/>
                  </a:lnTo>
                  <a:lnTo>
                    <a:pt x="2460739" y="3931856"/>
                  </a:lnTo>
                  <a:lnTo>
                    <a:pt x="2477960" y="3893756"/>
                  </a:lnTo>
                  <a:lnTo>
                    <a:pt x="2488742" y="3855656"/>
                  </a:lnTo>
                  <a:lnTo>
                    <a:pt x="2496489" y="3804856"/>
                  </a:lnTo>
                  <a:lnTo>
                    <a:pt x="2504008" y="3677856"/>
                  </a:lnTo>
                  <a:lnTo>
                    <a:pt x="2509990" y="3576256"/>
                  </a:lnTo>
                  <a:lnTo>
                    <a:pt x="2514409" y="3487356"/>
                  </a:lnTo>
                  <a:lnTo>
                    <a:pt x="2558440" y="3449256"/>
                  </a:lnTo>
                  <a:lnTo>
                    <a:pt x="2598343" y="3411156"/>
                  </a:lnTo>
                  <a:lnTo>
                    <a:pt x="2633980" y="3373056"/>
                  </a:lnTo>
                  <a:lnTo>
                    <a:pt x="2665247" y="3334956"/>
                  </a:lnTo>
                  <a:lnTo>
                    <a:pt x="2692019" y="3284156"/>
                  </a:lnTo>
                  <a:lnTo>
                    <a:pt x="2714193" y="3246056"/>
                  </a:lnTo>
                  <a:lnTo>
                    <a:pt x="2718549" y="3233356"/>
                  </a:lnTo>
                  <a:lnTo>
                    <a:pt x="2731630" y="3195256"/>
                  </a:lnTo>
                  <a:lnTo>
                    <a:pt x="2744241" y="3157156"/>
                  </a:lnTo>
                  <a:lnTo>
                    <a:pt x="2751886" y="3106356"/>
                  </a:lnTo>
                  <a:lnTo>
                    <a:pt x="2754465" y="3055556"/>
                  </a:lnTo>
                  <a:lnTo>
                    <a:pt x="2758262" y="3017456"/>
                  </a:lnTo>
                  <a:lnTo>
                    <a:pt x="2769489" y="2979356"/>
                  </a:lnTo>
                  <a:lnTo>
                    <a:pt x="2787853" y="2941256"/>
                  </a:lnTo>
                  <a:lnTo>
                    <a:pt x="2813088" y="2903156"/>
                  </a:lnTo>
                  <a:lnTo>
                    <a:pt x="2844914" y="2852356"/>
                  </a:lnTo>
                  <a:lnTo>
                    <a:pt x="2883065" y="2788856"/>
                  </a:lnTo>
                  <a:lnTo>
                    <a:pt x="2903194" y="2763456"/>
                  </a:lnTo>
                  <a:lnTo>
                    <a:pt x="2923870" y="2738056"/>
                  </a:lnTo>
                  <a:lnTo>
                    <a:pt x="2944952" y="2699956"/>
                  </a:lnTo>
                  <a:lnTo>
                    <a:pt x="2966237" y="2661856"/>
                  </a:lnTo>
                  <a:lnTo>
                    <a:pt x="2987573" y="2636456"/>
                  </a:lnTo>
                  <a:lnTo>
                    <a:pt x="3008782" y="2598356"/>
                  </a:lnTo>
                  <a:lnTo>
                    <a:pt x="3029686" y="2560256"/>
                  </a:lnTo>
                  <a:lnTo>
                    <a:pt x="3050121" y="2522156"/>
                  </a:lnTo>
                  <a:lnTo>
                    <a:pt x="3069907" y="2484056"/>
                  </a:lnTo>
                  <a:lnTo>
                    <a:pt x="3088881" y="2433256"/>
                  </a:lnTo>
                  <a:lnTo>
                    <a:pt x="3106864" y="2395156"/>
                  </a:lnTo>
                  <a:lnTo>
                    <a:pt x="3123692" y="2344356"/>
                  </a:lnTo>
                  <a:lnTo>
                    <a:pt x="3139173" y="2293556"/>
                  </a:lnTo>
                  <a:lnTo>
                    <a:pt x="3153156" y="2242756"/>
                  </a:lnTo>
                  <a:lnTo>
                    <a:pt x="3165462" y="2191956"/>
                  </a:lnTo>
                  <a:lnTo>
                    <a:pt x="3175914" y="2141156"/>
                  </a:lnTo>
                  <a:lnTo>
                    <a:pt x="3184347" y="2077656"/>
                  </a:lnTo>
                  <a:lnTo>
                    <a:pt x="3190583" y="2026856"/>
                  </a:lnTo>
                  <a:lnTo>
                    <a:pt x="3194456" y="1963356"/>
                  </a:lnTo>
                  <a:lnTo>
                    <a:pt x="3195777" y="1887156"/>
                  </a:lnTo>
                  <a:close/>
                </a:path>
                <a:path w="3821429" h="4211320">
                  <a:moveTo>
                    <a:pt x="3575329" y="2826156"/>
                  </a:moveTo>
                  <a:lnTo>
                    <a:pt x="3559556" y="2767241"/>
                  </a:lnTo>
                  <a:lnTo>
                    <a:pt x="3324377" y="2624582"/>
                  </a:lnTo>
                  <a:lnTo>
                    <a:pt x="3293745" y="2614257"/>
                  </a:lnTo>
                  <a:lnTo>
                    <a:pt x="3262693" y="2616352"/>
                  </a:lnTo>
                  <a:lnTo>
                    <a:pt x="3234728" y="2629941"/>
                  </a:lnTo>
                  <a:lnTo>
                    <a:pt x="3213366" y="2654084"/>
                  </a:lnTo>
                  <a:lnTo>
                    <a:pt x="3203067" y="2684615"/>
                  </a:lnTo>
                  <a:lnTo>
                    <a:pt x="3205200" y="2715590"/>
                  </a:lnTo>
                  <a:lnTo>
                    <a:pt x="3243046" y="2764739"/>
                  </a:lnTo>
                  <a:lnTo>
                    <a:pt x="3454082" y="2886151"/>
                  </a:lnTo>
                  <a:lnTo>
                    <a:pt x="3494633" y="2897009"/>
                  </a:lnTo>
                  <a:lnTo>
                    <a:pt x="3515398" y="2894330"/>
                  </a:lnTo>
                  <a:lnTo>
                    <a:pt x="3534765" y="2886519"/>
                  </a:lnTo>
                  <a:lnTo>
                    <a:pt x="3551694" y="2873819"/>
                  </a:lnTo>
                  <a:lnTo>
                    <a:pt x="3565093" y="2856534"/>
                  </a:lnTo>
                  <a:lnTo>
                    <a:pt x="3575329" y="2826156"/>
                  </a:lnTo>
                  <a:close/>
                </a:path>
                <a:path w="3821429" h="4211320">
                  <a:moveTo>
                    <a:pt x="3575469" y="982840"/>
                  </a:moveTo>
                  <a:lnTo>
                    <a:pt x="3565207" y="952360"/>
                  </a:lnTo>
                  <a:lnTo>
                    <a:pt x="3543833" y="928192"/>
                  </a:lnTo>
                  <a:lnTo>
                    <a:pt x="3515791" y="914552"/>
                  </a:lnTo>
                  <a:lnTo>
                    <a:pt x="3484702" y="912393"/>
                  </a:lnTo>
                  <a:lnTo>
                    <a:pt x="3454184" y="922642"/>
                  </a:lnTo>
                  <a:lnTo>
                    <a:pt x="3243148" y="1043940"/>
                  </a:lnTo>
                  <a:lnTo>
                    <a:pt x="3218878" y="1065288"/>
                  </a:lnTo>
                  <a:lnTo>
                    <a:pt x="3205200" y="1093216"/>
                  </a:lnTo>
                  <a:lnTo>
                    <a:pt x="3203029" y="1124178"/>
                  </a:lnTo>
                  <a:lnTo>
                    <a:pt x="3213252" y="1154595"/>
                  </a:lnTo>
                  <a:lnTo>
                    <a:pt x="3226714" y="1171879"/>
                  </a:lnTo>
                  <a:lnTo>
                    <a:pt x="3243643" y="1184579"/>
                  </a:lnTo>
                  <a:lnTo>
                    <a:pt x="3262960" y="1192390"/>
                  </a:lnTo>
                  <a:lnTo>
                    <a:pt x="3283597" y="1195057"/>
                  </a:lnTo>
                  <a:lnTo>
                    <a:pt x="3294049" y="1194396"/>
                  </a:lnTo>
                  <a:lnTo>
                    <a:pt x="3535413" y="1062913"/>
                  </a:lnTo>
                  <a:lnTo>
                    <a:pt x="3573272" y="1013802"/>
                  </a:lnTo>
                  <a:lnTo>
                    <a:pt x="3575469" y="982840"/>
                  </a:lnTo>
                  <a:close/>
                </a:path>
                <a:path w="3821429" h="4211320">
                  <a:moveTo>
                    <a:pt x="3820972" y="1904504"/>
                  </a:moveTo>
                  <a:lnTo>
                    <a:pt x="3814622" y="1872983"/>
                  </a:lnTo>
                  <a:lnTo>
                    <a:pt x="3797274" y="1847253"/>
                  </a:lnTo>
                  <a:lnTo>
                    <a:pt x="3771493" y="1829930"/>
                  </a:lnTo>
                  <a:lnTo>
                    <a:pt x="3739858" y="1823567"/>
                  </a:lnTo>
                  <a:lnTo>
                    <a:pt x="3495852" y="1823567"/>
                  </a:lnTo>
                  <a:lnTo>
                    <a:pt x="3464166" y="1829930"/>
                  </a:lnTo>
                  <a:lnTo>
                    <a:pt x="3464560" y="1829930"/>
                  </a:lnTo>
                  <a:lnTo>
                    <a:pt x="3438791" y="1847253"/>
                  </a:lnTo>
                  <a:lnTo>
                    <a:pt x="3421443" y="1872830"/>
                  </a:lnTo>
                  <a:lnTo>
                    <a:pt x="3415055" y="1904288"/>
                  </a:lnTo>
                  <a:lnTo>
                    <a:pt x="3421519" y="1935988"/>
                  </a:lnTo>
                  <a:lnTo>
                    <a:pt x="3438969" y="1961705"/>
                  </a:lnTo>
                  <a:lnTo>
                    <a:pt x="3464776" y="1979066"/>
                  </a:lnTo>
                  <a:lnTo>
                    <a:pt x="3465106" y="1979066"/>
                  </a:lnTo>
                  <a:lnTo>
                    <a:pt x="3496716" y="1985441"/>
                  </a:lnTo>
                  <a:lnTo>
                    <a:pt x="3739858" y="1985441"/>
                  </a:lnTo>
                  <a:lnTo>
                    <a:pt x="3771404" y="1979066"/>
                  </a:lnTo>
                  <a:lnTo>
                    <a:pt x="3797198" y="1961705"/>
                  </a:lnTo>
                  <a:lnTo>
                    <a:pt x="3814597" y="1935988"/>
                  </a:lnTo>
                  <a:lnTo>
                    <a:pt x="3820972" y="1904504"/>
                  </a:lnTo>
                  <a:close/>
                </a:path>
              </a:pathLst>
            </a:custGeom>
            <a:solidFill>
              <a:srgbClr val="923DC5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989191" y="545146"/>
            <a:ext cx="1783714" cy="1551305"/>
          </a:xfrm>
          <a:custGeom>
            <a:avLst/>
            <a:gdLst/>
            <a:ahLst/>
            <a:cxnLst/>
            <a:rect l="l" t="t" r="r" b="b"/>
            <a:pathLst>
              <a:path w="1783715" h="1551305">
                <a:moveTo>
                  <a:pt x="1783714" y="1551242"/>
                </a:moveTo>
                <a:lnTo>
                  <a:pt x="1777383" y="1500791"/>
                </a:lnTo>
                <a:lnTo>
                  <a:pt x="1769690" y="1450642"/>
                </a:lnTo>
                <a:lnTo>
                  <a:pt x="1760663" y="1400827"/>
                </a:lnTo>
                <a:lnTo>
                  <a:pt x="1750327" y="1351376"/>
                </a:lnTo>
                <a:lnTo>
                  <a:pt x="1738710" y="1302319"/>
                </a:lnTo>
                <a:lnTo>
                  <a:pt x="1725838" y="1253687"/>
                </a:lnTo>
                <a:lnTo>
                  <a:pt x="1711737" y="1205511"/>
                </a:lnTo>
                <a:lnTo>
                  <a:pt x="1696434" y="1157821"/>
                </a:lnTo>
                <a:lnTo>
                  <a:pt x="1679956" y="1110649"/>
                </a:lnTo>
                <a:lnTo>
                  <a:pt x="1662329" y="1064024"/>
                </a:lnTo>
                <a:lnTo>
                  <a:pt x="1643579" y="1017978"/>
                </a:lnTo>
                <a:lnTo>
                  <a:pt x="1623734" y="972541"/>
                </a:lnTo>
                <a:lnTo>
                  <a:pt x="1602819" y="927744"/>
                </a:lnTo>
                <a:lnTo>
                  <a:pt x="1580861" y="883617"/>
                </a:lnTo>
                <a:lnTo>
                  <a:pt x="1557887" y="840191"/>
                </a:lnTo>
                <a:lnTo>
                  <a:pt x="1533923" y="797497"/>
                </a:lnTo>
                <a:lnTo>
                  <a:pt x="1508996" y="755566"/>
                </a:lnTo>
                <a:lnTo>
                  <a:pt x="1483132" y="714428"/>
                </a:lnTo>
                <a:lnTo>
                  <a:pt x="1456358" y="674113"/>
                </a:lnTo>
                <a:lnTo>
                  <a:pt x="1428701" y="634653"/>
                </a:lnTo>
                <a:lnTo>
                  <a:pt x="1400186" y="596078"/>
                </a:lnTo>
                <a:lnTo>
                  <a:pt x="1370841" y="558419"/>
                </a:lnTo>
                <a:lnTo>
                  <a:pt x="1340692" y="521706"/>
                </a:lnTo>
                <a:lnTo>
                  <a:pt x="1309765" y="485970"/>
                </a:lnTo>
                <a:lnTo>
                  <a:pt x="1278087" y="451242"/>
                </a:lnTo>
                <a:lnTo>
                  <a:pt x="1245685" y="417553"/>
                </a:lnTo>
                <a:lnTo>
                  <a:pt x="1212585" y="384932"/>
                </a:lnTo>
                <a:lnTo>
                  <a:pt x="1178813" y="353412"/>
                </a:lnTo>
                <a:lnTo>
                  <a:pt x="1144397" y="323021"/>
                </a:lnTo>
                <a:lnTo>
                  <a:pt x="1109362" y="293792"/>
                </a:lnTo>
                <a:lnTo>
                  <a:pt x="1073736" y="265755"/>
                </a:lnTo>
                <a:lnTo>
                  <a:pt x="1037544" y="238940"/>
                </a:lnTo>
                <a:lnTo>
                  <a:pt x="1000814" y="213378"/>
                </a:lnTo>
                <a:lnTo>
                  <a:pt x="963571" y="189100"/>
                </a:lnTo>
                <a:lnTo>
                  <a:pt x="925843" y="166136"/>
                </a:lnTo>
                <a:lnTo>
                  <a:pt x="887656" y="144517"/>
                </a:lnTo>
                <a:lnTo>
                  <a:pt x="849036" y="124274"/>
                </a:lnTo>
                <a:lnTo>
                  <a:pt x="810010" y="105437"/>
                </a:lnTo>
                <a:lnTo>
                  <a:pt x="770604" y="88038"/>
                </a:lnTo>
                <a:lnTo>
                  <a:pt x="730846" y="72106"/>
                </a:lnTo>
                <a:lnTo>
                  <a:pt x="690761" y="57672"/>
                </a:lnTo>
                <a:lnTo>
                  <a:pt x="650376" y="44768"/>
                </a:lnTo>
                <a:lnTo>
                  <a:pt x="609717" y="33423"/>
                </a:lnTo>
                <a:lnTo>
                  <a:pt x="568812" y="23669"/>
                </a:lnTo>
                <a:lnTo>
                  <a:pt x="527686" y="15536"/>
                </a:lnTo>
                <a:lnTo>
                  <a:pt x="486367" y="9054"/>
                </a:lnTo>
                <a:lnTo>
                  <a:pt x="444880" y="4255"/>
                </a:lnTo>
                <a:lnTo>
                  <a:pt x="392743" y="716"/>
                </a:lnTo>
                <a:lnTo>
                  <a:pt x="341111" y="0"/>
                </a:lnTo>
                <a:lnTo>
                  <a:pt x="290058" y="2096"/>
                </a:lnTo>
                <a:lnTo>
                  <a:pt x="239658" y="6995"/>
                </a:lnTo>
                <a:lnTo>
                  <a:pt x="189982" y="14689"/>
                </a:lnTo>
                <a:lnTo>
                  <a:pt x="141106" y="25167"/>
                </a:lnTo>
                <a:lnTo>
                  <a:pt x="93101" y="38421"/>
                </a:lnTo>
                <a:lnTo>
                  <a:pt x="46041" y="54440"/>
                </a:lnTo>
                <a:lnTo>
                  <a:pt x="0" y="73216"/>
                </a:lnTo>
              </a:path>
            </a:pathLst>
          </a:custGeom>
          <a:ln w="126999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75578" y="757555"/>
            <a:ext cx="1390015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400" spc="-20"/>
              <a:t>Recap</a:t>
            </a:r>
            <a:endParaRPr sz="4400"/>
          </a:p>
        </p:txBody>
      </p:sp>
      <p:sp>
        <p:nvSpPr>
          <p:cNvPr id="4" name="object 4" descr=""/>
          <p:cNvSpPr/>
          <p:nvPr/>
        </p:nvSpPr>
        <p:spPr>
          <a:xfrm>
            <a:off x="0" y="5486400"/>
            <a:ext cx="2000250" cy="1371600"/>
          </a:xfrm>
          <a:custGeom>
            <a:avLst/>
            <a:gdLst/>
            <a:ahLst/>
            <a:cxnLst/>
            <a:rect l="l" t="t" r="r" b="b"/>
            <a:pathLst>
              <a:path w="2000250" h="1371600">
                <a:moveTo>
                  <a:pt x="711784" y="0"/>
                </a:moveTo>
                <a:lnTo>
                  <a:pt x="663064" y="1177"/>
                </a:lnTo>
                <a:lnTo>
                  <a:pt x="614789" y="4680"/>
                </a:lnTo>
                <a:lnTo>
                  <a:pt x="566988" y="10470"/>
                </a:lnTo>
                <a:lnTo>
                  <a:pt x="519691" y="18506"/>
                </a:lnTo>
                <a:lnTo>
                  <a:pt x="472929" y="28746"/>
                </a:lnTo>
                <a:lnTo>
                  <a:pt x="426732" y="41149"/>
                </a:lnTo>
                <a:lnTo>
                  <a:pt x="381131" y="55676"/>
                </a:lnTo>
                <a:lnTo>
                  <a:pt x="336155" y="72285"/>
                </a:lnTo>
                <a:lnTo>
                  <a:pt x="291835" y="90936"/>
                </a:lnTo>
                <a:lnTo>
                  <a:pt x="248202" y="111587"/>
                </a:lnTo>
                <a:lnTo>
                  <a:pt x="205285" y="134199"/>
                </a:lnTo>
                <a:lnTo>
                  <a:pt x="163115" y="158729"/>
                </a:lnTo>
                <a:lnTo>
                  <a:pt x="121722" y="185138"/>
                </a:lnTo>
                <a:lnTo>
                  <a:pt x="81136" y="213385"/>
                </a:lnTo>
                <a:lnTo>
                  <a:pt x="0" y="279247"/>
                </a:lnTo>
                <a:lnTo>
                  <a:pt x="0" y="1371600"/>
                </a:lnTo>
                <a:lnTo>
                  <a:pt x="2000250" y="1371600"/>
                </a:lnTo>
                <a:lnTo>
                  <a:pt x="1975358" y="1242212"/>
                </a:lnTo>
                <a:lnTo>
                  <a:pt x="1962506" y="1189910"/>
                </a:lnTo>
                <a:lnTo>
                  <a:pt x="1948481" y="1138339"/>
                </a:lnTo>
                <a:lnTo>
                  <a:pt x="1933303" y="1087529"/>
                </a:lnTo>
                <a:lnTo>
                  <a:pt x="1916993" y="1037508"/>
                </a:lnTo>
                <a:lnTo>
                  <a:pt x="1899572" y="988303"/>
                </a:lnTo>
                <a:lnTo>
                  <a:pt x="1881062" y="939944"/>
                </a:lnTo>
                <a:lnTo>
                  <a:pt x="1861485" y="892458"/>
                </a:lnTo>
                <a:lnTo>
                  <a:pt x="1840860" y="845874"/>
                </a:lnTo>
                <a:lnTo>
                  <a:pt x="1819209" y="800221"/>
                </a:lnTo>
                <a:lnTo>
                  <a:pt x="1796555" y="755526"/>
                </a:lnTo>
                <a:lnTo>
                  <a:pt x="1772917" y="711818"/>
                </a:lnTo>
                <a:lnTo>
                  <a:pt x="1748316" y="669125"/>
                </a:lnTo>
                <a:lnTo>
                  <a:pt x="1722775" y="627476"/>
                </a:lnTo>
                <a:lnTo>
                  <a:pt x="1696315" y="586898"/>
                </a:lnTo>
                <a:lnTo>
                  <a:pt x="1668956" y="547421"/>
                </a:lnTo>
                <a:lnTo>
                  <a:pt x="1640720" y="509072"/>
                </a:lnTo>
                <a:lnTo>
                  <a:pt x="1611628" y="471881"/>
                </a:lnTo>
                <a:lnTo>
                  <a:pt x="1581701" y="435874"/>
                </a:lnTo>
                <a:lnTo>
                  <a:pt x="1550961" y="401081"/>
                </a:lnTo>
                <a:lnTo>
                  <a:pt x="1519428" y="367530"/>
                </a:lnTo>
                <a:lnTo>
                  <a:pt x="1487125" y="335249"/>
                </a:lnTo>
                <a:lnTo>
                  <a:pt x="1454071" y="304267"/>
                </a:lnTo>
                <a:lnTo>
                  <a:pt x="1420289" y="274611"/>
                </a:lnTo>
                <a:lnTo>
                  <a:pt x="1385799" y="246311"/>
                </a:lnTo>
                <a:lnTo>
                  <a:pt x="1350623" y="219394"/>
                </a:lnTo>
                <a:lnTo>
                  <a:pt x="1314782" y="193889"/>
                </a:lnTo>
                <a:lnTo>
                  <a:pt x="1278297" y="169824"/>
                </a:lnTo>
                <a:lnTo>
                  <a:pt x="1241189" y="147228"/>
                </a:lnTo>
                <a:lnTo>
                  <a:pt x="1203480" y="126129"/>
                </a:lnTo>
                <a:lnTo>
                  <a:pt x="1165191" y="106554"/>
                </a:lnTo>
                <a:lnTo>
                  <a:pt x="1126343" y="88533"/>
                </a:lnTo>
                <a:lnTo>
                  <a:pt x="1086957" y="72094"/>
                </a:lnTo>
                <a:lnTo>
                  <a:pt x="1047054" y="57266"/>
                </a:lnTo>
                <a:lnTo>
                  <a:pt x="1006657" y="44075"/>
                </a:lnTo>
                <a:lnTo>
                  <a:pt x="965785" y="32552"/>
                </a:lnTo>
                <a:lnTo>
                  <a:pt x="924460" y="22723"/>
                </a:lnTo>
                <a:lnTo>
                  <a:pt x="882703" y="14618"/>
                </a:lnTo>
                <a:lnTo>
                  <a:pt x="840536" y="8265"/>
                </a:lnTo>
                <a:lnTo>
                  <a:pt x="797980" y="3692"/>
                </a:lnTo>
                <a:lnTo>
                  <a:pt x="755055" y="927"/>
                </a:lnTo>
                <a:lnTo>
                  <a:pt x="711784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264" y="2857642"/>
            <a:ext cx="3281594" cy="11789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504690" y="1902205"/>
            <a:ext cx="3475990" cy="402209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Control</a:t>
            </a:r>
            <a:r>
              <a:rPr dirty="0" sz="3200" spc="-1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Structures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Animation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Algorithm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Patterns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Nested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Loops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Boolean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Logic</a:t>
            </a:r>
            <a:endParaRPr sz="3200">
              <a:latin typeface="Calibri"/>
              <a:cs typeface="Calibri"/>
            </a:endParaRPr>
          </a:p>
          <a:p>
            <a:pPr marL="355600" marR="408940" indent="-34353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Decimals/Binary conversion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0780" y="1603865"/>
              <a:ext cx="123955" cy="11870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6982" y="1783790"/>
              <a:ext cx="123826" cy="11836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3126" y="1963529"/>
              <a:ext cx="124007" cy="11865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300430" y="4612290"/>
              <a:ext cx="307340" cy="262255"/>
            </a:xfrm>
            <a:custGeom>
              <a:avLst/>
              <a:gdLst/>
              <a:ahLst/>
              <a:cxnLst/>
              <a:rect l="l" t="t" r="r" b="b"/>
              <a:pathLst>
                <a:path w="307340" h="262254">
                  <a:moveTo>
                    <a:pt x="11340" y="190214"/>
                  </a:moveTo>
                  <a:lnTo>
                    <a:pt x="33772" y="227040"/>
                  </a:lnTo>
                  <a:lnTo>
                    <a:pt x="75003" y="255065"/>
                  </a:lnTo>
                  <a:lnTo>
                    <a:pt x="112750" y="261715"/>
                  </a:lnTo>
                  <a:lnTo>
                    <a:pt x="126323" y="261433"/>
                  </a:lnTo>
                  <a:lnTo>
                    <a:pt x="169614" y="253380"/>
                  </a:lnTo>
                  <a:lnTo>
                    <a:pt x="214139" y="236087"/>
                  </a:lnTo>
                  <a:lnTo>
                    <a:pt x="252894" y="213709"/>
                  </a:lnTo>
                  <a:lnTo>
                    <a:pt x="282791" y="186616"/>
                  </a:lnTo>
                  <a:lnTo>
                    <a:pt x="304736" y="142226"/>
                  </a:lnTo>
                  <a:lnTo>
                    <a:pt x="306835" y="116101"/>
                  </a:lnTo>
                  <a:lnTo>
                    <a:pt x="305044" y="101981"/>
                  </a:lnTo>
                  <a:lnTo>
                    <a:pt x="289018" y="57878"/>
                  </a:lnTo>
                  <a:lnTo>
                    <a:pt x="263943" y="25749"/>
                  </a:lnTo>
                  <a:lnTo>
                    <a:pt x="220001" y="3143"/>
                  </a:lnTo>
                  <a:lnTo>
                    <a:pt x="194506" y="0"/>
                  </a:lnTo>
                  <a:lnTo>
                    <a:pt x="180961" y="357"/>
                  </a:lnTo>
                  <a:lnTo>
                    <a:pt x="137689" y="8635"/>
                  </a:lnTo>
                  <a:lnTo>
                    <a:pt x="93007" y="26084"/>
                  </a:lnTo>
                  <a:lnTo>
                    <a:pt x="54520" y="48355"/>
                  </a:lnTo>
                  <a:lnTo>
                    <a:pt x="24463" y="75340"/>
                  </a:lnTo>
                  <a:lnTo>
                    <a:pt x="2067" y="119586"/>
                  </a:lnTo>
                  <a:lnTo>
                    <a:pt x="0" y="145708"/>
                  </a:lnTo>
                  <a:lnTo>
                    <a:pt x="1799" y="159829"/>
                  </a:lnTo>
                  <a:lnTo>
                    <a:pt x="5576" y="174664"/>
                  </a:lnTo>
                  <a:lnTo>
                    <a:pt x="11340" y="190214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1216" y="2233041"/>
              <a:ext cx="1126871" cy="190119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063613" y="4315714"/>
              <a:ext cx="794385" cy="1072515"/>
            </a:xfrm>
            <a:custGeom>
              <a:avLst/>
              <a:gdLst/>
              <a:ahLst/>
              <a:cxnLst/>
              <a:rect l="l" t="t" r="r" b="b"/>
              <a:pathLst>
                <a:path w="794384" h="1072514">
                  <a:moveTo>
                    <a:pt x="10159" y="78105"/>
                  </a:moveTo>
                  <a:lnTo>
                    <a:pt x="8762" y="74675"/>
                  </a:lnTo>
                  <a:lnTo>
                    <a:pt x="7238" y="70612"/>
                  </a:lnTo>
                  <a:lnTo>
                    <a:pt x="5841" y="66040"/>
                  </a:lnTo>
                  <a:lnTo>
                    <a:pt x="4317" y="61468"/>
                  </a:lnTo>
                  <a:lnTo>
                    <a:pt x="0" y="32512"/>
                  </a:lnTo>
                  <a:lnTo>
                    <a:pt x="126" y="29210"/>
                  </a:lnTo>
                  <a:lnTo>
                    <a:pt x="5587" y="20193"/>
                  </a:lnTo>
                  <a:lnTo>
                    <a:pt x="7238" y="18923"/>
                  </a:lnTo>
                  <a:lnTo>
                    <a:pt x="8889" y="17780"/>
                  </a:lnTo>
                  <a:lnTo>
                    <a:pt x="11556" y="16383"/>
                  </a:lnTo>
                  <a:lnTo>
                    <a:pt x="15112" y="14731"/>
                  </a:lnTo>
                  <a:lnTo>
                    <a:pt x="18541" y="13081"/>
                  </a:lnTo>
                  <a:lnTo>
                    <a:pt x="23367" y="10922"/>
                  </a:lnTo>
                  <a:lnTo>
                    <a:pt x="29463" y="8381"/>
                  </a:lnTo>
                  <a:lnTo>
                    <a:pt x="35305" y="5842"/>
                  </a:lnTo>
                  <a:lnTo>
                    <a:pt x="40258" y="3937"/>
                  </a:lnTo>
                  <a:lnTo>
                    <a:pt x="44450" y="2540"/>
                  </a:lnTo>
                  <a:lnTo>
                    <a:pt x="48513" y="1143"/>
                  </a:lnTo>
                  <a:lnTo>
                    <a:pt x="51815" y="254"/>
                  </a:lnTo>
                  <a:lnTo>
                    <a:pt x="54482" y="127"/>
                  </a:lnTo>
                  <a:lnTo>
                    <a:pt x="57022" y="0"/>
                  </a:lnTo>
                  <a:lnTo>
                    <a:pt x="64769" y="5206"/>
                  </a:lnTo>
                  <a:lnTo>
                    <a:pt x="65658" y="7238"/>
                  </a:lnTo>
                  <a:lnTo>
                    <a:pt x="66166" y="10160"/>
                  </a:lnTo>
                  <a:lnTo>
                    <a:pt x="66293" y="13716"/>
                  </a:lnTo>
                  <a:lnTo>
                    <a:pt x="66420" y="17272"/>
                  </a:lnTo>
                  <a:lnTo>
                    <a:pt x="69214" y="39878"/>
                  </a:lnTo>
                  <a:lnTo>
                    <a:pt x="70103" y="45212"/>
                  </a:lnTo>
                  <a:lnTo>
                    <a:pt x="71754" y="50546"/>
                  </a:lnTo>
                  <a:lnTo>
                    <a:pt x="74167" y="56134"/>
                  </a:lnTo>
                  <a:lnTo>
                    <a:pt x="76961" y="62737"/>
                  </a:lnTo>
                  <a:lnTo>
                    <a:pt x="108076" y="88518"/>
                  </a:lnTo>
                  <a:lnTo>
                    <a:pt x="152231" y="102875"/>
                  </a:lnTo>
                  <a:lnTo>
                    <a:pt x="189610" y="110109"/>
                  </a:lnTo>
                  <a:lnTo>
                    <a:pt x="425322" y="10287"/>
                  </a:lnTo>
                  <a:lnTo>
                    <a:pt x="427481" y="9398"/>
                  </a:lnTo>
                  <a:lnTo>
                    <a:pt x="443991" y="22098"/>
                  </a:lnTo>
                  <a:lnTo>
                    <a:pt x="446277" y="26162"/>
                  </a:lnTo>
                  <a:lnTo>
                    <a:pt x="457707" y="54356"/>
                  </a:lnTo>
                  <a:lnTo>
                    <a:pt x="458977" y="58800"/>
                  </a:lnTo>
                  <a:lnTo>
                    <a:pt x="459612" y="62484"/>
                  </a:lnTo>
                  <a:lnTo>
                    <a:pt x="459612" y="65531"/>
                  </a:lnTo>
                  <a:lnTo>
                    <a:pt x="459612" y="68453"/>
                  </a:lnTo>
                  <a:lnTo>
                    <a:pt x="459104" y="70738"/>
                  </a:lnTo>
                  <a:lnTo>
                    <a:pt x="457961" y="72262"/>
                  </a:lnTo>
                  <a:lnTo>
                    <a:pt x="456945" y="73787"/>
                  </a:lnTo>
                  <a:lnTo>
                    <a:pt x="455294" y="75056"/>
                  </a:lnTo>
                  <a:lnTo>
                    <a:pt x="453135" y="75946"/>
                  </a:lnTo>
                  <a:lnTo>
                    <a:pt x="94741" y="227837"/>
                  </a:lnTo>
                  <a:lnTo>
                    <a:pt x="92582" y="228727"/>
                  </a:lnTo>
                  <a:lnTo>
                    <a:pt x="90677" y="229108"/>
                  </a:lnTo>
                  <a:lnTo>
                    <a:pt x="88900" y="228854"/>
                  </a:lnTo>
                  <a:lnTo>
                    <a:pt x="87121" y="228727"/>
                  </a:lnTo>
                  <a:lnTo>
                    <a:pt x="65404" y="192405"/>
                  </a:lnTo>
                  <a:lnTo>
                    <a:pt x="62483" y="180975"/>
                  </a:lnTo>
                  <a:lnTo>
                    <a:pt x="62737" y="178435"/>
                  </a:lnTo>
                  <a:lnTo>
                    <a:pt x="69595" y="168402"/>
                  </a:lnTo>
                  <a:lnTo>
                    <a:pt x="121792" y="146304"/>
                  </a:lnTo>
                  <a:lnTo>
                    <a:pt x="75056" y="133477"/>
                  </a:lnTo>
                  <a:lnTo>
                    <a:pt x="37308" y="113821"/>
                  </a:lnTo>
                  <a:lnTo>
                    <a:pt x="13461" y="85725"/>
                  </a:lnTo>
                  <a:lnTo>
                    <a:pt x="10159" y="78105"/>
                  </a:lnTo>
                  <a:close/>
                </a:path>
                <a:path w="794384" h="1072514">
                  <a:moveTo>
                    <a:pt x="192023" y="507365"/>
                  </a:moveTo>
                  <a:lnTo>
                    <a:pt x="183808" y="485644"/>
                  </a:lnTo>
                  <a:lnTo>
                    <a:pt x="177831" y="464661"/>
                  </a:lnTo>
                  <a:lnTo>
                    <a:pt x="174093" y="444392"/>
                  </a:lnTo>
                  <a:lnTo>
                    <a:pt x="172592" y="424815"/>
                  </a:lnTo>
                  <a:lnTo>
                    <a:pt x="173237" y="405953"/>
                  </a:lnTo>
                  <a:lnTo>
                    <a:pt x="187578" y="353822"/>
                  </a:lnTo>
                  <a:lnTo>
                    <a:pt x="219975" y="308602"/>
                  </a:lnTo>
                  <a:lnTo>
                    <a:pt x="251047" y="282529"/>
                  </a:lnTo>
                  <a:lnTo>
                    <a:pt x="289147" y="259911"/>
                  </a:lnTo>
                  <a:lnTo>
                    <a:pt x="332555" y="241581"/>
                  </a:lnTo>
                  <a:lnTo>
                    <a:pt x="375366" y="230254"/>
                  </a:lnTo>
                  <a:lnTo>
                    <a:pt x="416893" y="226306"/>
                  </a:lnTo>
                  <a:lnTo>
                    <a:pt x="436752" y="227234"/>
                  </a:lnTo>
                  <a:lnTo>
                    <a:pt x="474471" y="234950"/>
                  </a:lnTo>
                  <a:lnTo>
                    <a:pt x="525192" y="261578"/>
                  </a:lnTo>
                  <a:lnTo>
                    <a:pt x="554505" y="289742"/>
                  </a:lnTo>
                  <a:lnTo>
                    <a:pt x="578889" y="326509"/>
                  </a:lnTo>
                  <a:lnTo>
                    <a:pt x="597388" y="369847"/>
                  </a:lnTo>
                  <a:lnTo>
                    <a:pt x="607190" y="411186"/>
                  </a:lnTo>
                  <a:lnTo>
                    <a:pt x="608710" y="430784"/>
                  </a:lnTo>
                  <a:lnTo>
                    <a:pt x="608046" y="449645"/>
                  </a:lnTo>
                  <a:lnTo>
                    <a:pt x="593597" y="501777"/>
                  </a:lnTo>
                  <a:lnTo>
                    <a:pt x="561201" y="546818"/>
                  </a:lnTo>
                  <a:lnTo>
                    <a:pt x="529976" y="572744"/>
                  </a:lnTo>
                  <a:lnTo>
                    <a:pt x="491634" y="595362"/>
                  </a:lnTo>
                  <a:lnTo>
                    <a:pt x="448008" y="613765"/>
                  </a:lnTo>
                  <a:lnTo>
                    <a:pt x="405336" y="625143"/>
                  </a:lnTo>
                  <a:lnTo>
                    <a:pt x="363902" y="629314"/>
                  </a:lnTo>
                  <a:lnTo>
                    <a:pt x="344042" y="628475"/>
                  </a:lnTo>
                  <a:lnTo>
                    <a:pt x="306323" y="620903"/>
                  </a:lnTo>
                  <a:lnTo>
                    <a:pt x="255764" y="594256"/>
                  </a:lnTo>
                  <a:lnTo>
                    <a:pt x="226689" y="566158"/>
                  </a:lnTo>
                  <a:lnTo>
                    <a:pt x="202356" y="529201"/>
                  </a:lnTo>
                  <a:lnTo>
                    <a:pt x="192023" y="507365"/>
                  </a:lnTo>
                  <a:close/>
                </a:path>
                <a:path w="794384" h="1072514">
                  <a:moveTo>
                    <a:pt x="271906" y="1055116"/>
                  </a:moveTo>
                  <a:lnTo>
                    <a:pt x="173735" y="823341"/>
                  </a:lnTo>
                  <a:lnTo>
                    <a:pt x="172846" y="821436"/>
                  </a:lnTo>
                  <a:lnTo>
                    <a:pt x="172719" y="819404"/>
                  </a:lnTo>
                  <a:lnTo>
                    <a:pt x="172973" y="817244"/>
                  </a:lnTo>
                  <a:lnTo>
                    <a:pt x="173354" y="815086"/>
                  </a:lnTo>
                  <a:lnTo>
                    <a:pt x="174370" y="812800"/>
                  </a:lnTo>
                  <a:lnTo>
                    <a:pt x="176275" y="810513"/>
                  </a:lnTo>
                  <a:lnTo>
                    <a:pt x="178053" y="808101"/>
                  </a:lnTo>
                  <a:lnTo>
                    <a:pt x="180720" y="805942"/>
                  </a:lnTo>
                  <a:lnTo>
                    <a:pt x="184403" y="803783"/>
                  </a:lnTo>
                  <a:lnTo>
                    <a:pt x="188086" y="801624"/>
                  </a:lnTo>
                  <a:lnTo>
                    <a:pt x="218185" y="791083"/>
                  </a:lnTo>
                  <a:lnTo>
                    <a:pt x="220979" y="791463"/>
                  </a:lnTo>
                  <a:lnTo>
                    <a:pt x="223900" y="791844"/>
                  </a:lnTo>
                  <a:lnTo>
                    <a:pt x="226186" y="792734"/>
                  </a:lnTo>
                  <a:lnTo>
                    <a:pt x="227964" y="794004"/>
                  </a:lnTo>
                  <a:lnTo>
                    <a:pt x="229742" y="795274"/>
                  </a:lnTo>
                  <a:lnTo>
                    <a:pt x="231012" y="796798"/>
                  </a:lnTo>
                  <a:lnTo>
                    <a:pt x="231775" y="798703"/>
                  </a:lnTo>
                  <a:lnTo>
                    <a:pt x="311784" y="987425"/>
                  </a:lnTo>
                  <a:lnTo>
                    <a:pt x="487044" y="913257"/>
                  </a:lnTo>
                  <a:lnTo>
                    <a:pt x="411479" y="734822"/>
                  </a:lnTo>
                  <a:lnTo>
                    <a:pt x="410717" y="732917"/>
                  </a:lnTo>
                  <a:lnTo>
                    <a:pt x="410336" y="731012"/>
                  </a:lnTo>
                  <a:lnTo>
                    <a:pt x="410590" y="728853"/>
                  </a:lnTo>
                  <a:lnTo>
                    <a:pt x="410717" y="726694"/>
                  </a:lnTo>
                  <a:lnTo>
                    <a:pt x="411606" y="724535"/>
                  </a:lnTo>
                  <a:lnTo>
                    <a:pt x="413257" y="722376"/>
                  </a:lnTo>
                  <a:lnTo>
                    <a:pt x="414781" y="720090"/>
                  </a:lnTo>
                  <a:lnTo>
                    <a:pt x="417194" y="717931"/>
                  </a:lnTo>
                  <a:lnTo>
                    <a:pt x="420623" y="715899"/>
                  </a:lnTo>
                  <a:lnTo>
                    <a:pt x="423925" y="713867"/>
                  </a:lnTo>
                  <a:lnTo>
                    <a:pt x="454405" y="703326"/>
                  </a:lnTo>
                  <a:lnTo>
                    <a:pt x="457200" y="703707"/>
                  </a:lnTo>
                  <a:lnTo>
                    <a:pt x="459993" y="704088"/>
                  </a:lnTo>
                  <a:lnTo>
                    <a:pt x="462406" y="704850"/>
                  </a:lnTo>
                  <a:lnTo>
                    <a:pt x="464311" y="706119"/>
                  </a:lnTo>
                  <a:lnTo>
                    <a:pt x="466216" y="707263"/>
                  </a:lnTo>
                  <a:lnTo>
                    <a:pt x="467613" y="708787"/>
                  </a:lnTo>
                  <a:lnTo>
                    <a:pt x="468375" y="710692"/>
                  </a:lnTo>
                  <a:lnTo>
                    <a:pt x="543940" y="889127"/>
                  </a:lnTo>
                  <a:lnTo>
                    <a:pt x="758697" y="798194"/>
                  </a:lnTo>
                  <a:lnTo>
                    <a:pt x="760476" y="797433"/>
                  </a:lnTo>
                  <a:lnTo>
                    <a:pt x="762507" y="797179"/>
                  </a:lnTo>
                  <a:lnTo>
                    <a:pt x="764666" y="797560"/>
                  </a:lnTo>
                  <a:lnTo>
                    <a:pt x="766826" y="797813"/>
                  </a:lnTo>
                  <a:lnTo>
                    <a:pt x="768984" y="799084"/>
                  </a:lnTo>
                  <a:lnTo>
                    <a:pt x="788542" y="833374"/>
                  </a:lnTo>
                  <a:lnTo>
                    <a:pt x="791844" y="843788"/>
                  </a:lnTo>
                  <a:lnTo>
                    <a:pt x="793114" y="848613"/>
                  </a:lnTo>
                  <a:lnTo>
                    <a:pt x="793750" y="852551"/>
                  </a:lnTo>
                  <a:lnTo>
                    <a:pt x="794003" y="855599"/>
                  </a:lnTo>
                  <a:lnTo>
                    <a:pt x="794130" y="858647"/>
                  </a:lnTo>
                  <a:lnTo>
                    <a:pt x="793622" y="861060"/>
                  </a:lnTo>
                  <a:lnTo>
                    <a:pt x="792352" y="862838"/>
                  </a:lnTo>
                  <a:lnTo>
                    <a:pt x="791082" y="864616"/>
                  </a:lnTo>
                  <a:lnTo>
                    <a:pt x="789558" y="865886"/>
                  </a:lnTo>
                  <a:lnTo>
                    <a:pt x="787653" y="866648"/>
                  </a:lnTo>
                  <a:lnTo>
                    <a:pt x="310514" y="1068832"/>
                  </a:lnTo>
                  <a:lnTo>
                    <a:pt x="303156" y="1071330"/>
                  </a:lnTo>
                  <a:lnTo>
                    <a:pt x="296513" y="1072340"/>
                  </a:lnTo>
                  <a:lnTo>
                    <a:pt x="290583" y="1071850"/>
                  </a:lnTo>
                  <a:lnTo>
                    <a:pt x="285368" y="1069848"/>
                  </a:lnTo>
                  <a:lnTo>
                    <a:pt x="278891" y="1066165"/>
                  </a:lnTo>
                  <a:lnTo>
                    <a:pt x="274446" y="1061212"/>
                  </a:lnTo>
                  <a:lnTo>
                    <a:pt x="271906" y="105511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410200" y="2286000"/>
              <a:ext cx="0" cy="2286000"/>
            </a:xfrm>
            <a:custGeom>
              <a:avLst/>
              <a:gdLst/>
              <a:ahLst/>
              <a:cxnLst/>
              <a:rect l="l" t="t" r="r" b="b"/>
              <a:pathLst>
                <a:path w="0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12140" y="209867"/>
            <a:ext cx="1014094" cy="3346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Welcome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12140" y="536786"/>
            <a:ext cx="2799080" cy="599567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470534">
              <a:lnSpc>
                <a:spcPct val="100000"/>
              </a:lnSpc>
              <a:spcBef>
                <a:spcPts val="855"/>
              </a:spcBef>
            </a:pP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Recap</a:t>
            </a:r>
            <a:endParaRPr sz="155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770"/>
              </a:spcBef>
            </a:pP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Today’s</a:t>
            </a:r>
            <a:r>
              <a:rPr dirty="0" sz="155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Calibri"/>
                <a:cs typeface="Calibri"/>
              </a:rPr>
              <a:t>Goals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endParaRPr sz="200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1430"/>
              </a:spcBef>
            </a:pP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Modularity</a:t>
            </a:r>
            <a:endParaRPr sz="1550">
              <a:latin typeface="Calibri"/>
              <a:cs typeface="Calibri"/>
            </a:endParaRPr>
          </a:p>
          <a:p>
            <a:pPr marL="470534" marR="5080">
              <a:lnSpc>
                <a:spcPct val="145400"/>
              </a:lnSpc>
              <a:spcBef>
                <a:spcPts val="145"/>
              </a:spcBef>
            </a:pP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Reusable</a:t>
            </a:r>
            <a:r>
              <a:rPr dirty="0" sz="155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15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Components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dirty="0" sz="15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55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dirty="0" sz="155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5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function?</a:t>
            </a:r>
            <a:endParaRPr sz="1550">
              <a:latin typeface="Calibri"/>
              <a:cs typeface="Calibri"/>
            </a:endParaRPr>
          </a:p>
          <a:p>
            <a:pPr marL="470534" marR="1185545">
              <a:lnSpc>
                <a:spcPct val="141300"/>
              </a:lnSpc>
              <a:spcBef>
                <a:spcPts val="75"/>
              </a:spcBef>
            </a:pP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Parameters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dirty="0" sz="155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Examples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2000" b="1">
                <a:solidFill>
                  <a:srgbClr val="FFFF00"/>
                </a:solidFill>
                <a:latin typeface="Calibri"/>
                <a:cs typeface="Calibri"/>
              </a:rPr>
              <a:t>BREAK</a:t>
            </a:r>
            <a:r>
              <a:rPr dirty="0" sz="2000" spc="-10" b="1">
                <a:solidFill>
                  <a:srgbClr val="FFFF00"/>
                </a:solidFill>
                <a:latin typeface="Calibri"/>
                <a:cs typeface="Calibri"/>
              </a:rPr>
              <a:t> (10:30–10:45)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Coding</a:t>
            </a:r>
            <a:r>
              <a:rPr dirty="0" sz="20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FFFFFF"/>
                </a:solidFill>
                <a:latin typeface="Calibri"/>
                <a:cs typeface="Calibri"/>
              </a:rPr>
              <a:t>tasks</a:t>
            </a:r>
            <a:endParaRPr sz="2000">
              <a:latin typeface="Calibri"/>
              <a:cs typeface="Calibri"/>
            </a:endParaRPr>
          </a:p>
          <a:p>
            <a:pPr marL="470534" marR="93980">
              <a:lnSpc>
                <a:spcPct val="143300"/>
              </a:lnSpc>
              <a:spcBef>
                <a:spcPts val="100"/>
              </a:spcBef>
            </a:pP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Shapes</a:t>
            </a:r>
            <a:r>
              <a:rPr dirty="0" sz="155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Generator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Animated</a:t>
            </a:r>
            <a:r>
              <a:rPr dirty="0" sz="15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Trees</a:t>
            </a:r>
            <a:r>
              <a:rPr dirty="0" sz="15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15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recursive Spirals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2000" spc="-25" b="1">
                <a:solidFill>
                  <a:srgbClr val="FFFFFF"/>
                </a:solidFill>
                <a:latin typeface="Calibri"/>
                <a:cs typeface="Calibri"/>
              </a:rPr>
              <a:t>Q&amp;A</a:t>
            </a:r>
            <a:endParaRPr sz="200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900"/>
              </a:spcBef>
            </a:pPr>
            <a:r>
              <a:rPr dirty="0" sz="155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5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alibri"/>
                <a:cs typeface="Calibri"/>
              </a:rPr>
              <a:t>tomorrow…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143750" y="5486400"/>
            <a:ext cx="2000250" cy="1371600"/>
          </a:xfrm>
          <a:custGeom>
            <a:avLst/>
            <a:gdLst/>
            <a:ahLst/>
            <a:cxnLst/>
            <a:rect l="l" t="t" r="r" b="b"/>
            <a:pathLst>
              <a:path w="2000250" h="1371600">
                <a:moveTo>
                  <a:pt x="1288415" y="0"/>
                </a:moveTo>
                <a:lnTo>
                  <a:pt x="1244069" y="974"/>
                </a:lnTo>
                <a:lnTo>
                  <a:pt x="1200089" y="3878"/>
                </a:lnTo>
                <a:lnTo>
                  <a:pt x="1156497" y="8680"/>
                </a:lnTo>
                <a:lnTo>
                  <a:pt x="1113314" y="15350"/>
                </a:lnTo>
                <a:lnTo>
                  <a:pt x="1070566" y="23858"/>
                </a:lnTo>
                <a:lnTo>
                  <a:pt x="1028273" y="34173"/>
                </a:lnTo>
                <a:lnTo>
                  <a:pt x="986459" y="46264"/>
                </a:lnTo>
                <a:lnTo>
                  <a:pt x="945148" y="60101"/>
                </a:lnTo>
                <a:lnTo>
                  <a:pt x="904361" y="75654"/>
                </a:lnTo>
                <a:lnTo>
                  <a:pt x="864121" y="92891"/>
                </a:lnTo>
                <a:lnTo>
                  <a:pt x="824452" y="111784"/>
                </a:lnTo>
                <a:lnTo>
                  <a:pt x="785377" y="132300"/>
                </a:lnTo>
                <a:lnTo>
                  <a:pt x="746917" y="154409"/>
                </a:lnTo>
                <a:lnTo>
                  <a:pt x="709097" y="178081"/>
                </a:lnTo>
                <a:lnTo>
                  <a:pt x="671938" y="203286"/>
                </a:lnTo>
                <a:lnTo>
                  <a:pt x="635464" y="229993"/>
                </a:lnTo>
                <a:lnTo>
                  <a:pt x="599697" y="258171"/>
                </a:lnTo>
                <a:lnTo>
                  <a:pt x="564661" y="287790"/>
                </a:lnTo>
                <a:lnTo>
                  <a:pt x="530378" y="318820"/>
                </a:lnTo>
                <a:lnTo>
                  <a:pt x="496871" y="351229"/>
                </a:lnTo>
                <a:lnTo>
                  <a:pt x="464163" y="384988"/>
                </a:lnTo>
                <a:lnTo>
                  <a:pt x="432277" y="420065"/>
                </a:lnTo>
                <a:lnTo>
                  <a:pt x="401235" y="456431"/>
                </a:lnTo>
                <a:lnTo>
                  <a:pt x="371061" y="494055"/>
                </a:lnTo>
                <a:lnTo>
                  <a:pt x="341777" y="532907"/>
                </a:lnTo>
                <a:lnTo>
                  <a:pt x="313406" y="572955"/>
                </a:lnTo>
                <a:lnTo>
                  <a:pt x="285972" y="614169"/>
                </a:lnTo>
                <a:lnTo>
                  <a:pt x="259496" y="656519"/>
                </a:lnTo>
                <a:lnTo>
                  <a:pt x="234001" y="699975"/>
                </a:lnTo>
                <a:lnTo>
                  <a:pt x="209512" y="744505"/>
                </a:lnTo>
                <a:lnTo>
                  <a:pt x="186050" y="790080"/>
                </a:lnTo>
                <a:lnTo>
                  <a:pt x="163637" y="836668"/>
                </a:lnTo>
                <a:lnTo>
                  <a:pt x="142299" y="884240"/>
                </a:lnTo>
                <a:lnTo>
                  <a:pt x="122056" y="932764"/>
                </a:lnTo>
                <a:lnTo>
                  <a:pt x="102931" y="982211"/>
                </a:lnTo>
                <a:lnTo>
                  <a:pt x="84949" y="1032550"/>
                </a:lnTo>
                <a:lnTo>
                  <a:pt x="68131" y="1083750"/>
                </a:lnTo>
                <a:lnTo>
                  <a:pt x="52500" y="1135780"/>
                </a:lnTo>
                <a:lnTo>
                  <a:pt x="38079" y="1188611"/>
                </a:lnTo>
                <a:lnTo>
                  <a:pt x="24892" y="1242212"/>
                </a:lnTo>
                <a:lnTo>
                  <a:pt x="0" y="1371600"/>
                </a:lnTo>
                <a:lnTo>
                  <a:pt x="2000250" y="1371600"/>
                </a:lnTo>
                <a:lnTo>
                  <a:pt x="2000250" y="279247"/>
                </a:lnTo>
                <a:lnTo>
                  <a:pt x="1919097" y="213385"/>
                </a:lnTo>
                <a:lnTo>
                  <a:pt x="1878513" y="185138"/>
                </a:lnTo>
                <a:lnTo>
                  <a:pt x="1837121" y="158729"/>
                </a:lnTo>
                <a:lnTo>
                  <a:pt x="1794950" y="134199"/>
                </a:lnTo>
                <a:lnTo>
                  <a:pt x="1752031" y="111587"/>
                </a:lnTo>
                <a:lnTo>
                  <a:pt x="1708395" y="90936"/>
                </a:lnTo>
                <a:lnTo>
                  <a:pt x="1664071" y="72285"/>
                </a:lnTo>
                <a:lnTo>
                  <a:pt x="1619091" y="55676"/>
                </a:lnTo>
                <a:lnTo>
                  <a:pt x="1573485" y="41149"/>
                </a:lnTo>
                <a:lnTo>
                  <a:pt x="1527283" y="28746"/>
                </a:lnTo>
                <a:lnTo>
                  <a:pt x="1480517" y="18506"/>
                </a:lnTo>
                <a:lnTo>
                  <a:pt x="1433216" y="10470"/>
                </a:lnTo>
                <a:lnTo>
                  <a:pt x="1385412" y="4680"/>
                </a:lnTo>
                <a:lnTo>
                  <a:pt x="1337135" y="1177"/>
                </a:lnTo>
                <a:lnTo>
                  <a:pt x="128841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3840734" y="589100"/>
            <a:ext cx="4646295" cy="4097654"/>
            <a:chOff x="3840734" y="589100"/>
            <a:chExt cx="4646295" cy="40976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5375" y="2000250"/>
              <a:ext cx="3581400" cy="268605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904234" y="652600"/>
              <a:ext cx="1796414" cy="1495425"/>
            </a:xfrm>
            <a:custGeom>
              <a:avLst/>
              <a:gdLst/>
              <a:ahLst/>
              <a:cxnLst/>
              <a:rect l="l" t="t" r="r" b="b"/>
              <a:pathLst>
                <a:path w="1796414" h="1495425">
                  <a:moveTo>
                    <a:pt x="0" y="297105"/>
                  </a:moveTo>
                  <a:lnTo>
                    <a:pt x="35035" y="263650"/>
                  </a:lnTo>
                  <a:lnTo>
                    <a:pt x="70700" y="232232"/>
                  </a:lnTo>
                  <a:lnTo>
                    <a:pt x="106955" y="202842"/>
                  </a:lnTo>
                  <a:lnTo>
                    <a:pt x="143758" y="175473"/>
                  </a:lnTo>
                  <a:lnTo>
                    <a:pt x="181070" y="150117"/>
                  </a:lnTo>
                  <a:lnTo>
                    <a:pt x="218849" y="126767"/>
                  </a:lnTo>
                  <a:lnTo>
                    <a:pt x="257055" y="105413"/>
                  </a:lnTo>
                  <a:lnTo>
                    <a:pt x="295646" y="86049"/>
                  </a:lnTo>
                  <a:lnTo>
                    <a:pt x="334583" y="68667"/>
                  </a:lnTo>
                  <a:lnTo>
                    <a:pt x="373825" y="53258"/>
                  </a:lnTo>
                  <a:lnTo>
                    <a:pt x="413330" y="39815"/>
                  </a:lnTo>
                  <a:lnTo>
                    <a:pt x="453058" y="28330"/>
                  </a:lnTo>
                  <a:lnTo>
                    <a:pt x="492968" y="18796"/>
                  </a:lnTo>
                  <a:lnTo>
                    <a:pt x="533021" y="11203"/>
                  </a:lnTo>
                  <a:lnTo>
                    <a:pt x="573174" y="5545"/>
                  </a:lnTo>
                  <a:lnTo>
                    <a:pt x="613387" y="1813"/>
                  </a:lnTo>
                  <a:lnTo>
                    <a:pt x="653620" y="0"/>
                  </a:lnTo>
                  <a:lnTo>
                    <a:pt x="693832" y="97"/>
                  </a:lnTo>
                  <a:lnTo>
                    <a:pt x="733982" y="2097"/>
                  </a:lnTo>
                  <a:lnTo>
                    <a:pt x="774029" y="5993"/>
                  </a:lnTo>
                  <a:lnTo>
                    <a:pt x="813933" y="11775"/>
                  </a:lnTo>
                  <a:lnTo>
                    <a:pt x="853652" y="19437"/>
                  </a:lnTo>
                  <a:lnTo>
                    <a:pt x="893147" y="28970"/>
                  </a:lnTo>
                  <a:lnTo>
                    <a:pt x="932377" y="40367"/>
                  </a:lnTo>
                  <a:lnTo>
                    <a:pt x="971300" y="53619"/>
                  </a:lnTo>
                  <a:lnTo>
                    <a:pt x="1009877" y="68719"/>
                  </a:lnTo>
                  <a:lnTo>
                    <a:pt x="1048065" y="85659"/>
                  </a:lnTo>
                  <a:lnTo>
                    <a:pt x="1085826" y="104431"/>
                  </a:lnTo>
                  <a:lnTo>
                    <a:pt x="1123117" y="125028"/>
                  </a:lnTo>
                  <a:lnTo>
                    <a:pt x="1159899" y="147440"/>
                  </a:lnTo>
                  <a:lnTo>
                    <a:pt x="1196130" y="171661"/>
                  </a:lnTo>
                  <a:lnTo>
                    <a:pt x="1231770" y="197683"/>
                  </a:lnTo>
                  <a:lnTo>
                    <a:pt x="1266778" y="225497"/>
                  </a:lnTo>
                  <a:lnTo>
                    <a:pt x="1301114" y="255096"/>
                  </a:lnTo>
                  <a:lnTo>
                    <a:pt x="1334736" y="286473"/>
                  </a:lnTo>
                  <a:lnTo>
                    <a:pt x="1367604" y="319618"/>
                  </a:lnTo>
                  <a:lnTo>
                    <a:pt x="1399678" y="354524"/>
                  </a:lnTo>
                  <a:lnTo>
                    <a:pt x="1430916" y="391184"/>
                  </a:lnTo>
                  <a:lnTo>
                    <a:pt x="1461277" y="429589"/>
                  </a:lnTo>
                  <a:lnTo>
                    <a:pt x="1490722" y="469732"/>
                  </a:lnTo>
                  <a:lnTo>
                    <a:pt x="1519210" y="511605"/>
                  </a:lnTo>
                  <a:lnTo>
                    <a:pt x="1546699" y="555200"/>
                  </a:lnTo>
                  <a:lnTo>
                    <a:pt x="1573149" y="600508"/>
                  </a:lnTo>
                  <a:lnTo>
                    <a:pt x="1595492" y="641769"/>
                  </a:lnTo>
                  <a:lnTo>
                    <a:pt x="1616715" y="683909"/>
                  </a:lnTo>
                  <a:lnTo>
                    <a:pt x="1636808" y="726887"/>
                  </a:lnTo>
                  <a:lnTo>
                    <a:pt x="1655760" y="770663"/>
                  </a:lnTo>
                  <a:lnTo>
                    <a:pt x="1673562" y="815196"/>
                  </a:lnTo>
                  <a:lnTo>
                    <a:pt x="1690204" y="860445"/>
                  </a:lnTo>
                  <a:lnTo>
                    <a:pt x="1705676" y="906369"/>
                  </a:lnTo>
                  <a:lnTo>
                    <a:pt x="1719967" y="952926"/>
                  </a:lnTo>
                  <a:lnTo>
                    <a:pt x="1733068" y="1000078"/>
                  </a:lnTo>
                  <a:lnTo>
                    <a:pt x="1744969" y="1047781"/>
                  </a:lnTo>
                  <a:lnTo>
                    <a:pt x="1755660" y="1095996"/>
                  </a:lnTo>
                  <a:lnTo>
                    <a:pt x="1765130" y="1144682"/>
                  </a:lnTo>
                  <a:lnTo>
                    <a:pt x="1773370" y="1193797"/>
                  </a:lnTo>
                  <a:lnTo>
                    <a:pt x="1780370" y="1243301"/>
                  </a:lnTo>
                  <a:lnTo>
                    <a:pt x="1786119" y="1293153"/>
                  </a:lnTo>
                  <a:lnTo>
                    <a:pt x="1790608" y="1343312"/>
                  </a:lnTo>
                  <a:lnTo>
                    <a:pt x="1793827" y="1393738"/>
                  </a:lnTo>
                  <a:lnTo>
                    <a:pt x="1795766" y="1444388"/>
                  </a:lnTo>
                  <a:lnTo>
                    <a:pt x="1796414" y="1495223"/>
                  </a:lnTo>
                </a:path>
              </a:pathLst>
            </a:custGeom>
            <a:ln w="126999">
              <a:solidFill>
                <a:srgbClr val="8063A1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935990">
              <a:lnSpc>
                <a:spcPct val="100000"/>
              </a:lnSpc>
              <a:spcBef>
                <a:spcPts val="130"/>
              </a:spcBef>
            </a:pPr>
            <a:r>
              <a:rPr dirty="0" sz="4400" spc="-10"/>
              <a:t>Functions</a:t>
            </a:r>
            <a:endParaRPr sz="4400"/>
          </a:p>
        </p:txBody>
      </p:sp>
      <p:sp>
        <p:nvSpPr>
          <p:cNvPr id="7" name="object 7" descr=""/>
          <p:cNvSpPr txBox="1"/>
          <p:nvPr/>
        </p:nvSpPr>
        <p:spPr>
          <a:xfrm>
            <a:off x="708025" y="1991995"/>
            <a:ext cx="3710304" cy="381571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67310">
              <a:lnSpc>
                <a:spcPct val="93900"/>
              </a:lnSpc>
              <a:spcBef>
                <a:spcPts val="215"/>
              </a:spcBef>
            </a:pPr>
            <a:r>
              <a:rPr dirty="0" sz="1250">
                <a:latin typeface="Calibri"/>
                <a:cs typeface="Calibri"/>
              </a:rPr>
              <a:t>In</a:t>
            </a:r>
            <a:r>
              <a:rPr dirty="0" sz="1250" spc="1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Processing,</a:t>
            </a:r>
            <a:r>
              <a:rPr dirty="0" sz="1250" spc="6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function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works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much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like</a:t>
            </a:r>
            <a:r>
              <a:rPr dirty="0" sz="1250" spc="13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it</a:t>
            </a:r>
            <a:r>
              <a:rPr dirty="0" sz="1250" spc="10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does</a:t>
            </a:r>
            <a:r>
              <a:rPr dirty="0" sz="1250" spc="25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in </a:t>
            </a:r>
            <a:r>
              <a:rPr dirty="0" sz="1250">
                <a:latin typeface="Calibri"/>
                <a:cs typeface="Calibri"/>
              </a:rPr>
              <a:t>other</a:t>
            </a:r>
            <a:r>
              <a:rPr dirty="0" sz="1250" spc="10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programming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languages.</a:t>
            </a:r>
            <a:r>
              <a:rPr dirty="0" sz="1250" spc="8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It’s</a:t>
            </a:r>
            <a:r>
              <a:rPr dirty="0" sz="1250" spc="14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block</a:t>
            </a:r>
            <a:r>
              <a:rPr dirty="0" sz="1250" spc="13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of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code </a:t>
            </a:r>
            <a:r>
              <a:rPr dirty="0" sz="1250">
                <a:latin typeface="Calibri"/>
                <a:cs typeface="Calibri"/>
              </a:rPr>
              <a:t>designed</a:t>
            </a:r>
            <a:r>
              <a:rPr dirty="0" sz="1250" spc="114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to</a:t>
            </a:r>
            <a:r>
              <a:rPr dirty="0" sz="1250" spc="114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perform</a:t>
            </a:r>
            <a:r>
              <a:rPr dirty="0" sz="1250" spc="6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</a:t>
            </a:r>
            <a:r>
              <a:rPr dirty="0" sz="1250" spc="19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specific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task,</a:t>
            </a:r>
            <a:r>
              <a:rPr dirty="0" sz="1250" spc="9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making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your </a:t>
            </a:r>
            <a:r>
              <a:rPr dirty="0" sz="1250">
                <a:latin typeface="Calibri"/>
                <a:cs typeface="Calibri"/>
              </a:rPr>
              <a:t>program</a:t>
            </a:r>
            <a:r>
              <a:rPr dirty="0" sz="1250" spc="12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more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modular</a:t>
            </a:r>
            <a:r>
              <a:rPr dirty="0" sz="1250" spc="110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and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easier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to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understand</a:t>
            </a:r>
            <a:r>
              <a:rPr dirty="0" sz="1250" spc="110" b="1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and </a:t>
            </a:r>
            <a:r>
              <a:rPr dirty="0" sz="1250" spc="-10" b="1">
                <a:latin typeface="Calibri"/>
                <a:cs typeface="Calibri"/>
              </a:rPr>
              <a:t>maintain</a:t>
            </a:r>
            <a:r>
              <a:rPr dirty="0" sz="1250" spc="-10">
                <a:latin typeface="Calibri"/>
                <a:cs typeface="Calibri"/>
              </a:rPr>
              <a:t>.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2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Key</a:t>
            </a:r>
            <a:r>
              <a:rPr dirty="0" u="sng" sz="1250" spc="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2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takeaways</a:t>
            </a:r>
            <a:endParaRPr sz="1250">
              <a:latin typeface="Calibri"/>
              <a:cs typeface="Calibri"/>
            </a:endParaRPr>
          </a:p>
          <a:p>
            <a:pPr marL="355600" marR="5080" indent="-343535">
              <a:lnSpc>
                <a:spcPts val="1430"/>
              </a:lnSpc>
              <a:spcBef>
                <a:spcPts val="334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50" b="1">
                <a:latin typeface="Calibri"/>
                <a:cs typeface="Calibri"/>
              </a:rPr>
              <a:t>Reusable</a:t>
            </a:r>
            <a:r>
              <a:rPr dirty="0" sz="1250" spc="6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Blocks:</a:t>
            </a:r>
            <a:r>
              <a:rPr dirty="0" sz="1250" spc="105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Functions</a:t>
            </a:r>
            <a:r>
              <a:rPr dirty="0" sz="1250" spc="15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allow</a:t>
            </a:r>
            <a:r>
              <a:rPr dirty="0" sz="1250" spc="10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you</a:t>
            </a:r>
            <a:r>
              <a:rPr dirty="0" sz="1250" spc="130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to </a:t>
            </a:r>
            <a:r>
              <a:rPr dirty="0" sz="1250">
                <a:latin typeface="Calibri"/>
                <a:cs typeface="Calibri"/>
              </a:rPr>
              <a:t>encapsulate</a:t>
            </a:r>
            <a:r>
              <a:rPr dirty="0" sz="1250" spc="12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tasks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that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can</a:t>
            </a:r>
            <a:r>
              <a:rPr dirty="0" sz="1250" spc="8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be</a:t>
            </a:r>
            <a:r>
              <a:rPr dirty="0" sz="1250" spc="12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executed</a:t>
            </a:r>
            <a:r>
              <a:rPr dirty="0" sz="1250" spc="80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whenever </a:t>
            </a:r>
            <a:r>
              <a:rPr dirty="0" sz="1250">
                <a:latin typeface="Calibri"/>
                <a:cs typeface="Calibri"/>
              </a:rPr>
              <a:t>needed</a:t>
            </a:r>
            <a:r>
              <a:rPr dirty="0" sz="1250" spc="2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without</a:t>
            </a:r>
            <a:r>
              <a:rPr dirty="0" sz="1250" spc="13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rewriting</a:t>
            </a:r>
            <a:r>
              <a:rPr dirty="0" sz="1250" spc="10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the</a:t>
            </a:r>
            <a:r>
              <a:rPr dirty="0" sz="1250" spc="150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code.</a:t>
            </a:r>
            <a:endParaRPr sz="1250">
              <a:latin typeface="Calibri"/>
              <a:cs typeface="Calibri"/>
            </a:endParaRPr>
          </a:p>
          <a:p>
            <a:pPr marL="355600" indent="-342900">
              <a:lnSpc>
                <a:spcPts val="1425"/>
              </a:lnSpc>
              <a:spcBef>
                <a:spcPts val="18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50" b="1">
                <a:latin typeface="Calibri"/>
                <a:cs typeface="Calibri"/>
              </a:rPr>
              <a:t>Modularity:</a:t>
            </a:r>
            <a:r>
              <a:rPr dirty="0" sz="1250" spc="65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They</a:t>
            </a:r>
            <a:r>
              <a:rPr dirty="0" sz="1250" spc="14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help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organize</a:t>
            </a:r>
            <a:r>
              <a:rPr dirty="0" sz="1250" spc="6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your</a:t>
            </a:r>
            <a:r>
              <a:rPr dirty="0" sz="1250" spc="114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code</a:t>
            </a:r>
            <a:r>
              <a:rPr dirty="0" sz="1250" spc="155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by</a:t>
            </a:r>
            <a:endParaRPr sz="1250">
              <a:latin typeface="Calibri"/>
              <a:cs typeface="Calibri"/>
            </a:endParaRPr>
          </a:p>
          <a:p>
            <a:pPr marL="355600">
              <a:lnSpc>
                <a:spcPts val="1425"/>
              </a:lnSpc>
            </a:pPr>
            <a:r>
              <a:rPr dirty="0" sz="1250">
                <a:latin typeface="Calibri"/>
                <a:cs typeface="Calibri"/>
              </a:rPr>
              <a:t>separating</a:t>
            </a:r>
            <a:r>
              <a:rPr dirty="0" sz="1250" spc="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it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into</a:t>
            </a:r>
            <a:r>
              <a:rPr dirty="0" sz="1250" spc="16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logical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parts.</a:t>
            </a:r>
            <a:endParaRPr sz="1250">
              <a:latin typeface="Calibri"/>
              <a:cs typeface="Calibri"/>
            </a:endParaRPr>
          </a:p>
          <a:p>
            <a:pPr marL="355600" marR="160020" indent="-343535">
              <a:lnSpc>
                <a:spcPct val="93500"/>
              </a:lnSpc>
              <a:spcBef>
                <a:spcPts val="32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50" b="1">
                <a:latin typeface="Calibri"/>
                <a:cs typeface="Calibri"/>
              </a:rPr>
              <a:t>Parameters</a:t>
            </a:r>
            <a:r>
              <a:rPr dirty="0" sz="1250" spc="4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and</a:t>
            </a:r>
            <a:r>
              <a:rPr dirty="0" sz="1250" spc="90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Return</a:t>
            </a:r>
            <a:r>
              <a:rPr dirty="0" sz="1250" spc="95" b="1">
                <a:latin typeface="Calibri"/>
                <a:cs typeface="Calibri"/>
              </a:rPr>
              <a:t> </a:t>
            </a:r>
            <a:r>
              <a:rPr dirty="0" sz="1250" b="1">
                <a:latin typeface="Calibri"/>
                <a:cs typeface="Calibri"/>
              </a:rPr>
              <a:t>Values:</a:t>
            </a:r>
            <a:r>
              <a:rPr dirty="0" sz="1250" spc="-30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You</a:t>
            </a:r>
            <a:r>
              <a:rPr dirty="0" sz="1250" spc="10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can</a:t>
            </a:r>
            <a:r>
              <a:rPr dirty="0" sz="1250" spc="25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pass </a:t>
            </a:r>
            <a:r>
              <a:rPr dirty="0" sz="1250">
                <a:latin typeface="Calibri"/>
                <a:cs typeface="Calibri"/>
              </a:rPr>
              <a:t>values</a:t>
            </a:r>
            <a:r>
              <a:rPr dirty="0" sz="1250" spc="16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(parameters)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to</a:t>
            </a:r>
            <a:r>
              <a:rPr dirty="0" sz="1250" spc="13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functions,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and</a:t>
            </a:r>
            <a:r>
              <a:rPr dirty="0" sz="1250" spc="130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functions </a:t>
            </a:r>
            <a:r>
              <a:rPr dirty="0" sz="1250">
                <a:latin typeface="Calibri"/>
                <a:cs typeface="Calibri"/>
              </a:rPr>
              <a:t>can</a:t>
            </a:r>
            <a:r>
              <a:rPr dirty="0" sz="1250" spc="9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return</a:t>
            </a:r>
            <a:r>
              <a:rPr dirty="0" sz="1250" spc="9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results</a:t>
            </a:r>
            <a:r>
              <a:rPr dirty="0" sz="1250" spc="13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after</a:t>
            </a:r>
            <a:r>
              <a:rPr dirty="0" sz="1250" spc="9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performing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their </a:t>
            </a:r>
            <a:r>
              <a:rPr dirty="0" sz="1250" spc="-10">
                <a:latin typeface="Calibri"/>
                <a:cs typeface="Calibri"/>
              </a:rPr>
              <a:t>operations.</a:t>
            </a:r>
            <a:endParaRPr sz="1250">
              <a:latin typeface="Calibri"/>
              <a:cs typeface="Calibri"/>
            </a:endParaRPr>
          </a:p>
          <a:p>
            <a:pPr algn="just" marL="355600" marR="27940" indent="-343535">
              <a:lnSpc>
                <a:spcPct val="95100"/>
              </a:lnSpc>
              <a:spcBef>
                <a:spcPts val="300"/>
              </a:spcBef>
              <a:buFont typeface="Arial"/>
              <a:buChar char="•"/>
              <a:tabLst>
                <a:tab pos="355600" algn="l"/>
                <a:tab pos="356870" algn="l"/>
              </a:tabLst>
            </a:pPr>
            <a:r>
              <a:rPr dirty="0" sz="1250">
                <a:latin typeface="Calibri"/>
                <a:cs typeface="Calibri"/>
              </a:rPr>
              <a:t>	</a:t>
            </a:r>
            <a:r>
              <a:rPr dirty="0" sz="1250" b="1">
                <a:latin typeface="Calibri"/>
                <a:cs typeface="Calibri"/>
              </a:rPr>
              <a:t>Abstraction:</a:t>
            </a:r>
            <a:r>
              <a:rPr dirty="0" sz="1250" spc="80" b="1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By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using</a:t>
            </a:r>
            <a:r>
              <a:rPr dirty="0" sz="1250" spc="1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functions,</a:t>
            </a:r>
            <a:r>
              <a:rPr dirty="0" sz="1250" spc="6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you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can</a:t>
            </a:r>
            <a:r>
              <a:rPr dirty="0" sz="1250" spc="8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hide</a:t>
            </a:r>
            <a:r>
              <a:rPr dirty="0" sz="1250" spc="45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the </a:t>
            </a:r>
            <a:r>
              <a:rPr dirty="0" sz="1250">
                <a:latin typeface="Calibri"/>
                <a:cs typeface="Calibri"/>
              </a:rPr>
              <a:t>complexity</a:t>
            </a:r>
            <a:r>
              <a:rPr dirty="0" sz="1250" spc="10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of</a:t>
            </a:r>
            <a:r>
              <a:rPr dirty="0" sz="1250" spc="5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operations,</a:t>
            </a:r>
            <a:r>
              <a:rPr dirty="0" sz="1250" spc="14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allowing</a:t>
            </a:r>
            <a:r>
              <a:rPr dirty="0" sz="1250" spc="7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you</a:t>
            </a:r>
            <a:r>
              <a:rPr dirty="0" sz="1250" spc="16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to</a:t>
            </a:r>
            <a:r>
              <a:rPr dirty="0" sz="1250" spc="7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use</a:t>
            </a:r>
            <a:r>
              <a:rPr dirty="0" sz="1250" spc="114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the </a:t>
            </a:r>
            <a:r>
              <a:rPr dirty="0" sz="1250">
                <a:latin typeface="Calibri"/>
                <a:cs typeface="Calibri"/>
              </a:rPr>
              <a:t>function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without</a:t>
            </a:r>
            <a:r>
              <a:rPr dirty="0" sz="1250" spc="14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knowing</a:t>
            </a:r>
            <a:r>
              <a:rPr dirty="0" sz="1250" spc="1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its</a:t>
            </a:r>
            <a:r>
              <a:rPr dirty="0" sz="1250" spc="14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inner</a:t>
            </a:r>
            <a:r>
              <a:rPr dirty="0" sz="1250" spc="114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workings.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8122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5"/>
              </a:spcBef>
            </a:pPr>
            <a:r>
              <a:rPr dirty="0" sz="4200"/>
              <a:t>Functions</a:t>
            </a:r>
            <a:r>
              <a:rPr dirty="0" sz="4200" spc="-50"/>
              <a:t> </a:t>
            </a:r>
            <a:r>
              <a:rPr dirty="0" sz="4200"/>
              <a:t>-</a:t>
            </a:r>
            <a:r>
              <a:rPr dirty="0" sz="4200" spc="-60"/>
              <a:t> </a:t>
            </a:r>
            <a:r>
              <a:rPr dirty="0" sz="4200" spc="-10"/>
              <a:t>example</a:t>
            </a:r>
            <a:endParaRPr sz="4200"/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000250"/>
            <a:ext cx="8682355" cy="4739005"/>
            <a:chOff x="0" y="2000250"/>
            <a:chExt cx="8682355" cy="4739005"/>
          </a:xfrm>
        </p:grpSpPr>
        <p:sp>
          <p:nvSpPr>
            <p:cNvPr id="4" name="object 4" descr=""/>
            <p:cNvSpPr/>
            <p:nvPr/>
          </p:nvSpPr>
          <p:spPr>
            <a:xfrm>
              <a:off x="0" y="2000250"/>
              <a:ext cx="8591550" cy="781050"/>
            </a:xfrm>
            <a:custGeom>
              <a:avLst/>
              <a:gdLst/>
              <a:ahLst/>
              <a:cxnLst/>
              <a:rect l="l" t="t" r="r" b="b"/>
              <a:pathLst>
                <a:path w="8591550" h="781050">
                  <a:moveTo>
                    <a:pt x="859155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8591550" y="781050"/>
                  </a:lnTo>
                  <a:lnTo>
                    <a:pt x="85915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71636"/>
              <a:ext cx="8682101" cy="456730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2200275"/>
              <a:ext cx="8534400" cy="4267200"/>
            </a:xfrm>
            <a:custGeom>
              <a:avLst/>
              <a:gdLst/>
              <a:ahLst/>
              <a:cxnLst/>
              <a:rect l="l" t="t" r="r" b="b"/>
              <a:pathLst>
                <a:path w="8534400" h="4267200">
                  <a:moveTo>
                    <a:pt x="85344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8534400" y="4267200"/>
                  </a:lnTo>
                  <a:lnTo>
                    <a:pt x="853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04800" y="2452941"/>
            <a:ext cx="3223260" cy="3476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590"/>
              </a:lnSpc>
              <a:spcBef>
                <a:spcPts val="125"/>
              </a:spcBef>
            </a:pPr>
            <a:r>
              <a:rPr dirty="0" sz="1400" b="1">
                <a:latin typeface="Calibri"/>
                <a:cs typeface="Calibri"/>
              </a:rPr>
              <a:t>Function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Definition:</a:t>
            </a:r>
            <a:endParaRPr sz="1400">
              <a:latin typeface="Calibri"/>
              <a:cs typeface="Calibri"/>
            </a:endParaRPr>
          </a:p>
          <a:p>
            <a:pPr marL="12700" marR="78105">
              <a:lnSpc>
                <a:spcPct val="90900"/>
              </a:lnSpc>
              <a:spcBef>
                <a:spcPts val="65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function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drawCircle</a:t>
            </a:r>
            <a:r>
              <a:rPr dirty="0" sz="14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defined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with </a:t>
            </a:r>
            <a:r>
              <a:rPr dirty="0" sz="1400">
                <a:latin typeface="Calibri"/>
                <a:cs typeface="Calibri"/>
              </a:rPr>
              <a:t>three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parameters: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centerX</a:t>
            </a:r>
            <a:r>
              <a:rPr dirty="0" sz="1400">
                <a:latin typeface="Calibri"/>
                <a:cs typeface="Calibri"/>
              </a:rPr>
              <a:t>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Calibri"/>
                <a:cs typeface="Calibri"/>
              </a:rPr>
              <a:t>centerY</a:t>
            </a:r>
            <a:r>
              <a:rPr dirty="0" sz="1400" spc="-25">
                <a:latin typeface="Calibri"/>
                <a:cs typeface="Calibri"/>
              </a:rPr>
              <a:t>,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 spc="-10">
                <a:latin typeface="Calibri"/>
                <a:cs typeface="Calibri"/>
              </a:rPr>
              <a:t>radius. </a:t>
            </a: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calculates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width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height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of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ellipse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doubling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radius.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400">
              <a:latin typeface="Calibri"/>
              <a:cs typeface="Calibri"/>
            </a:endParaRPr>
          </a:p>
          <a:p>
            <a:pPr algn="just" marL="12700">
              <a:lnSpc>
                <a:spcPts val="1590"/>
              </a:lnSpc>
            </a:pPr>
            <a:r>
              <a:rPr dirty="0" sz="1400" b="1">
                <a:latin typeface="Calibri"/>
                <a:cs typeface="Calibri"/>
              </a:rPr>
              <a:t>Calling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Function:</a:t>
            </a:r>
            <a:endParaRPr sz="1400">
              <a:latin typeface="Calibri"/>
              <a:cs typeface="Calibri"/>
            </a:endParaRPr>
          </a:p>
          <a:p>
            <a:pPr algn="just" marL="12700" marR="291465">
              <a:lnSpc>
                <a:spcPct val="91600"/>
              </a:lnSpc>
              <a:spcBef>
                <a:spcPts val="55"/>
              </a:spcBef>
            </a:pPr>
            <a:r>
              <a:rPr dirty="0" sz="1400">
                <a:latin typeface="Calibri"/>
                <a:cs typeface="Calibri"/>
              </a:rPr>
              <a:t>Inside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setup()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function,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drawCircle</a:t>
            </a:r>
            <a:r>
              <a:rPr dirty="0"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is </a:t>
            </a:r>
            <a:r>
              <a:rPr dirty="0" sz="1400">
                <a:latin typeface="Calibri"/>
                <a:cs typeface="Calibri"/>
              </a:rPr>
              <a:t>called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specific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arguments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draw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a </a:t>
            </a:r>
            <a:r>
              <a:rPr dirty="0" sz="1400">
                <a:latin typeface="Calibri"/>
                <a:cs typeface="Calibri"/>
              </a:rPr>
              <a:t>circle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 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middle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window.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ts val="1590"/>
              </a:lnSpc>
            </a:pPr>
            <a:r>
              <a:rPr dirty="0" sz="1400" spc="-10" b="1">
                <a:latin typeface="Calibri"/>
                <a:cs typeface="Calibri"/>
              </a:rPr>
              <a:t>Benefits: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90500"/>
              </a:lnSpc>
              <a:spcBef>
                <a:spcPts val="70"/>
              </a:spcBef>
            </a:pP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approach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keeps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clean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 spc="-10">
                <a:latin typeface="Calibri"/>
                <a:cs typeface="Calibri"/>
              </a:rPr>
              <a:t>organized.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If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change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how</a:t>
            </a:r>
            <a:r>
              <a:rPr dirty="0" sz="1400" spc="-10">
                <a:latin typeface="Calibri"/>
                <a:cs typeface="Calibri"/>
              </a:rPr>
              <a:t> circles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drawn,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only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have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update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drawCircle</a:t>
            </a:r>
            <a:r>
              <a:rPr dirty="0" sz="14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function,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calls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will</a:t>
            </a:r>
            <a:r>
              <a:rPr dirty="0" sz="1400" spc="5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new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logic.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629025" y="2000250"/>
            <a:ext cx="5143500" cy="3390900"/>
            <a:chOff x="3629025" y="2000250"/>
            <a:chExt cx="5143500" cy="33909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9025" y="2895600"/>
              <a:ext cx="4733925" cy="249555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658225" y="2000250"/>
              <a:ext cx="114300" cy="781050"/>
            </a:xfrm>
            <a:custGeom>
              <a:avLst/>
              <a:gdLst/>
              <a:ahLst/>
              <a:cxnLst/>
              <a:rect l="l" t="t" r="r" b="b"/>
              <a:pathLst>
                <a:path w="114300" h="781050">
                  <a:moveTo>
                    <a:pt x="11430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114300" y="7810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1708" rIns="0" bIns="0" rtlCol="0" vert="horz">
            <a:spAutoFit/>
          </a:bodyPr>
          <a:lstStyle/>
          <a:p>
            <a:pPr marL="1367155">
              <a:lnSpc>
                <a:spcPct val="100000"/>
              </a:lnSpc>
              <a:spcBef>
                <a:spcPts val="105"/>
              </a:spcBef>
            </a:pPr>
            <a:r>
              <a:rPr dirty="0" sz="4200"/>
              <a:t>Functions</a:t>
            </a:r>
            <a:r>
              <a:rPr dirty="0" sz="4200" spc="-50"/>
              <a:t> </a:t>
            </a:r>
            <a:r>
              <a:rPr dirty="0" sz="4200"/>
              <a:t>-</a:t>
            </a:r>
            <a:r>
              <a:rPr dirty="0" sz="4200" spc="-60"/>
              <a:t> </a:t>
            </a:r>
            <a:r>
              <a:rPr dirty="0" sz="4200" spc="-10"/>
              <a:t>modularity</a:t>
            </a:r>
            <a:endParaRPr sz="4200"/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000250"/>
            <a:ext cx="8682355" cy="4739005"/>
            <a:chOff x="0" y="2000250"/>
            <a:chExt cx="8682355" cy="4739005"/>
          </a:xfrm>
        </p:grpSpPr>
        <p:sp>
          <p:nvSpPr>
            <p:cNvPr id="4" name="object 4" descr=""/>
            <p:cNvSpPr/>
            <p:nvPr/>
          </p:nvSpPr>
          <p:spPr>
            <a:xfrm>
              <a:off x="0" y="2000250"/>
              <a:ext cx="8591550" cy="781050"/>
            </a:xfrm>
            <a:custGeom>
              <a:avLst/>
              <a:gdLst/>
              <a:ahLst/>
              <a:cxnLst/>
              <a:rect l="l" t="t" r="r" b="b"/>
              <a:pathLst>
                <a:path w="8591550" h="781050">
                  <a:moveTo>
                    <a:pt x="859155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8591550" y="781050"/>
                  </a:lnTo>
                  <a:lnTo>
                    <a:pt x="85915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71636"/>
              <a:ext cx="8682101" cy="456730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2200275"/>
              <a:ext cx="8534400" cy="4267200"/>
            </a:xfrm>
            <a:custGeom>
              <a:avLst/>
              <a:gdLst/>
              <a:ahLst/>
              <a:cxnLst/>
              <a:rect l="l" t="t" r="r" b="b"/>
              <a:pathLst>
                <a:path w="8534400" h="4267200">
                  <a:moveTo>
                    <a:pt x="85344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8534400" y="4267200"/>
                  </a:lnTo>
                  <a:lnTo>
                    <a:pt x="853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74687" y="2810827"/>
            <a:ext cx="3213735" cy="3198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33020">
              <a:lnSpc>
                <a:spcPct val="100299"/>
              </a:lnSpc>
              <a:spcBef>
                <a:spcPts val="120"/>
              </a:spcBef>
            </a:pPr>
            <a:r>
              <a:rPr dirty="0" sz="1700">
                <a:latin typeface="Calibri"/>
                <a:cs typeface="Calibri"/>
              </a:rPr>
              <a:t>Modularity</a:t>
            </a:r>
            <a:r>
              <a:rPr dirty="0" sz="1700" spc="-8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means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breaking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your </a:t>
            </a:r>
            <a:r>
              <a:rPr dirty="0" sz="1700">
                <a:latin typeface="Calibri"/>
                <a:cs typeface="Calibri"/>
              </a:rPr>
              <a:t>program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into</a:t>
            </a:r>
            <a:r>
              <a:rPr dirty="0" sz="1700" spc="-8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smaller,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independent </a:t>
            </a:r>
            <a:r>
              <a:rPr dirty="0" sz="1700">
                <a:latin typeface="Calibri"/>
                <a:cs typeface="Calibri"/>
              </a:rPr>
              <a:t>parts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each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part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handles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10">
                <a:latin typeface="Calibri"/>
                <a:cs typeface="Calibri"/>
              </a:rPr>
              <a:t> specific </a:t>
            </a:r>
            <a:r>
              <a:rPr dirty="0" sz="1700">
                <a:latin typeface="Calibri"/>
                <a:cs typeface="Calibri"/>
              </a:rPr>
              <a:t>task.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makes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7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code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easier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to </a:t>
            </a:r>
            <a:r>
              <a:rPr dirty="0" sz="1700">
                <a:latin typeface="Calibri"/>
                <a:cs typeface="Calibri"/>
              </a:rPr>
              <a:t>read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maintain.</a:t>
            </a:r>
            <a:endParaRPr sz="17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34"/>
              </a:spcBef>
            </a:pP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example,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0000"/>
                </a:solidFill>
                <a:latin typeface="Calibri"/>
                <a:cs typeface="Calibri"/>
              </a:rPr>
              <a:t>drawCircle</a:t>
            </a:r>
            <a:r>
              <a:rPr dirty="0" sz="17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and </a:t>
            </a:r>
            <a:r>
              <a:rPr dirty="0" sz="1700" spc="-10">
                <a:solidFill>
                  <a:srgbClr val="FF0000"/>
                </a:solidFill>
                <a:latin typeface="Calibri"/>
                <a:cs typeface="Calibri"/>
              </a:rPr>
              <a:t>drawSquare</a:t>
            </a:r>
            <a:r>
              <a:rPr dirty="0" sz="17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are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modular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functions </a:t>
            </a:r>
            <a:r>
              <a:rPr dirty="0" sz="1700">
                <a:latin typeface="Calibri"/>
                <a:cs typeface="Calibri"/>
              </a:rPr>
              <a:t>that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each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perform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specific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 spc="-20">
                <a:latin typeface="Calibri"/>
                <a:cs typeface="Calibri"/>
              </a:rPr>
              <a:t>task. </a:t>
            </a:r>
            <a:r>
              <a:rPr dirty="0" sz="1700">
                <a:latin typeface="Calibri"/>
                <a:cs typeface="Calibri"/>
              </a:rPr>
              <a:t>This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keeps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main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0000"/>
                </a:solidFill>
                <a:latin typeface="Calibri"/>
                <a:cs typeface="Calibri"/>
              </a:rPr>
              <a:t>setup()</a:t>
            </a:r>
            <a:r>
              <a:rPr dirty="0" sz="17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function </a:t>
            </a:r>
            <a:r>
              <a:rPr dirty="0" sz="1700">
                <a:latin typeface="Calibri"/>
                <a:cs typeface="Calibri"/>
              </a:rPr>
              <a:t>clear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organized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while</a:t>
            </a:r>
            <a:r>
              <a:rPr dirty="0" sz="1700" spc="1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allowing </a:t>
            </a:r>
            <a:r>
              <a:rPr dirty="0" sz="1700">
                <a:latin typeface="Calibri"/>
                <a:cs typeface="Calibri"/>
              </a:rPr>
              <a:t>you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easily</a:t>
            </a:r>
            <a:r>
              <a:rPr dirty="0" sz="1700" spc="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reuse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or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modify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the </a:t>
            </a:r>
            <a:r>
              <a:rPr dirty="0" sz="1700">
                <a:latin typeface="Calibri"/>
                <a:cs typeface="Calibri"/>
              </a:rPr>
              <a:t>drawing</a:t>
            </a:r>
            <a:r>
              <a:rPr dirty="0" sz="1700" spc="-8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logic.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067175" y="2000250"/>
            <a:ext cx="4705350" cy="3590925"/>
            <a:chOff x="4067175" y="2000250"/>
            <a:chExt cx="4705350" cy="35909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7175" y="2847975"/>
              <a:ext cx="4229100" cy="274320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658225" y="2000250"/>
              <a:ext cx="114300" cy="781050"/>
            </a:xfrm>
            <a:custGeom>
              <a:avLst/>
              <a:gdLst/>
              <a:ahLst/>
              <a:cxnLst/>
              <a:rect l="l" t="t" r="r" b="b"/>
              <a:pathLst>
                <a:path w="114300" h="781050">
                  <a:moveTo>
                    <a:pt x="11430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114300" y="7810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1708" rIns="0" bIns="0" rtlCol="0" vert="horz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dirty="0" sz="4200"/>
              <a:t>Functions</a:t>
            </a:r>
            <a:r>
              <a:rPr dirty="0" sz="4200" spc="-65"/>
              <a:t> </a:t>
            </a:r>
            <a:r>
              <a:rPr dirty="0" sz="4200"/>
              <a:t>–</a:t>
            </a:r>
            <a:r>
              <a:rPr dirty="0" sz="4200" spc="-75"/>
              <a:t> </a:t>
            </a:r>
            <a:r>
              <a:rPr dirty="0" sz="4200"/>
              <a:t>reusability</a:t>
            </a:r>
            <a:r>
              <a:rPr dirty="0" sz="4200" spc="-85"/>
              <a:t> </a:t>
            </a:r>
            <a:r>
              <a:rPr dirty="0" sz="4200"/>
              <a:t>of</a:t>
            </a:r>
            <a:r>
              <a:rPr dirty="0" sz="4200" spc="-60"/>
              <a:t> </a:t>
            </a:r>
            <a:r>
              <a:rPr dirty="0" sz="4200" spc="-20"/>
              <a:t>code</a:t>
            </a:r>
            <a:endParaRPr sz="4200"/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000250"/>
            <a:ext cx="8682355" cy="4739005"/>
            <a:chOff x="0" y="2000250"/>
            <a:chExt cx="8682355" cy="4739005"/>
          </a:xfrm>
        </p:grpSpPr>
        <p:sp>
          <p:nvSpPr>
            <p:cNvPr id="4" name="object 4" descr=""/>
            <p:cNvSpPr/>
            <p:nvPr/>
          </p:nvSpPr>
          <p:spPr>
            <a:xfrm>
              <a:off x="0" y="2000250"/>
              <a:ext cx="8591550" cy="781050"/>
            </a:xfrm>
            <a:custGeom>
              <a:avLst/>
              <a:gdLst/>
              <a:ahLst/>
              <a:cxnLst/>
              <a:rect l="l" t="t" r="r" b="b"/>
              <a:pathLst>
                <a:path w="8591550" h="781050">
                  <a:moveTo>
                    <a:pt x="859155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8591550" y="781050"/>
                  </a:lnTo>
                  <a:lnTo>
                    <a:pt x="85915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71636"/>
              <a:ext cx="8682101" cy="456730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2200275"/>
              <a:ext cx="8534400" cy="4267200"/>
            </a:xfrm>
            <a:custGeom>
              <a:avLst/>
              <a:gdLst/>
              <a:ahLst/>
              <a:cxnLst/>
              <a:rect l="l" t="t" r="r" b="b"/>
              <a:pathLst>
                <a:path w="8534400" h="4267200">
                  <a:moveTo>
                    <a:pt x="85344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8534400" y="4267200"/>
                  </a:lnTo>
                  <a:lnTo>
                    <a:pt x="853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74687" y="2622486"/>
            <a:ext cx="3230245" cy="353441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109855">
              <a:lnSpc>
                <a:spcPct val="80500"/>
              </a:lnSpc>
              <a:spcBef>
                <a:spcPts val="455"/>
              </a:spcBef>
            </a:pPr>
            <a:r>
              <a:rPr dirty="0" sz="1400" spc="-10">
                <a:latin typeface="Calibri"/>
                <a:cs typeface="Calibri"/>
              </a:rPr>
              <a:t>Reusability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 code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refers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writing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pieces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code, </a:t>
            </a:r>
            <a:r>
              <a:rPr dirty="0" sz="1400">
                <a:latin typeface="Calibri"/>
                <a:cs typeface="Calibri"/>
              </a:rPr>
              <a:t>such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as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functions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modules,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that </a:t>
            </a:r>
            <a:r>
              <a:rPr dirty="0" sz="1400">
                <a:latin typeface="Calibri"/>
                <a:cs typeface="Calibri"/>
              </a:rPr>
              <a:t>can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different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parts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program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even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different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projects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without rewriting </a:t>
            </a:r>
            <a:r>
              <a:rPr dirty="0" sz="1400">
                <a:latin typeface="Calibri"/>
                <a:cs typeface="Calibri"/>
              </a:rPr>
              <a:t>them. This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saves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time,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reduces errors,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makes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maintenance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easier.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ts val="1664"/>
              </a:lnSpc>
              <a:spcBef>
                <a:spcPts val="17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400" spc="-10" b="1">
                <a:latin typeface="Calibri"/>
                <a:cs typeface="Calibri"/>
              </a:rPr>
              <a:t>Efficiency:</a:t>
            </a:r>
            <a:r>
              <a:rPr dirty="0" sz="1400" spc="-6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Write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once,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many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times.</a:t>
            </a:r>
            <a:endParaRPr sz="1400">
              <a:latin typeface="Calibri"/>
              <a:cs typeface="Calibri"/>
            </a:endParaRPr>
          </a:p>
          <a:p>
            <a:pPr marL="355600" marR="173990" indent="-343535">
              <a:lnSpc>
                <a:spcPts val="1350"/>
              </a:lnSpc>
              <a:spcBef>
                <a:spcPts val="3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400" spc="-10" b="1">
                <a:latin typeface="Calibri"/>
                <a:cs typeface="Calibri"/>
              </a:rPr>
              <a:t>Maintainability:</a:t>
            </a:r>
            <a:r>
              <a:rPr dirty="0" sz="1400" spc="5" b="1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Updates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code </a:t>
            </a:r>
            <a:r>
              <a:rPr dirty="0" sz="1400">
                <a:latin typeface="Calibri"/>
                <a:cs typeface="Calibri"/>
              </a:rPr>
              <a:t>need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made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only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once.</a:t>
            </a:r>
            <a:endParaRPr sz="1400">
              <a:latin typeface="Calibri"/>
              <a:cs typeface="Calibri"/>
            </a:endParaRPr>
          </a:p>
          <a:p>
            <a:pPr marL="355600" marR="196215" indent="-343535">
              <a:lnSpc>
                <a:spcPct val="78300"/>
              </a:lnSpc>
              <a:spcBef>
                <a:spcPts val="42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400" spc="-10" b="1">
                <a:latin typeface="Calibri"/>
                <a:cs typeface="Calibri"/>
              </a:rPr>
              <a:t>Consistency: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Reusing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code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ensures consistent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behaviour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across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different </a:t>
            </a:r>
            <a:r>
              <a:rPr dirty="0" sz="1400">
                <a:latin typeface="Calibri"/>
                <a:cs typeface="Calibri"/>
              </a:rPr>
              <a:t>parts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 an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application.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79300"/>
              </a:lnSpc>
            </a:pP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example,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drawShape</a:t>
            </a:r>
            <a:r>
              <a:rPr dirty="0" sz="14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function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can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reused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draw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both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circles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squares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simply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changing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parameter, demonstrating</a:t>
            </a:r>
            <a:r>
              <a:rPr dirty="0" sz="1400">
                <a:latin typeface="Calibri"/>
                <a:cs typeface="Calibri"/>
              </a:rPr>
              <a:t> how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reusability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code </a:t>
            </a:r>
            <a:r>
              <a:rPr dirty="0" sz="1400" spc="-10">
                <a:latin typeface="Calibri"/>
                <a:cs typeface="Calibri"/>
              </a:rPr>
              <a:t>improves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efficiency</a:t>
            </a:r>
            <a:r>
              <a:rPr dirty="0" sz="1400" spc="-10">
                <a:latin typeface="Calibri"/>
                <a:cs typeface="Calibri"/>
              </a:rPr>
              <a:t> 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consistency.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429125" y="2000250"/>
            <a:ext cx="4343400" cy="4200525"/>
            <a:chOff x="4429125" y="2000250"/>
            <a:chExt cx="4343400" cy="42005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9125" y="2486025"/>
              <a:ext cx="3867150" cy="371475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658225" y="2000250"/>
              <a:ext cx="114300" cy="781050"/>
            </a:xfrm>
            <a:custGeom>
              <a:avLst/>
              <a:gdLst/>
              <a:ahLst/>
              <a:cxnLst/>
              <a:rect l="l" t="t" r="r" b="b"/>
              <a:pathLst>
                <a:path w="114300" h="781050">
                  <a:moveTo>
                    <a:pt x="11430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114300" y="7810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842899"/>
            <a:ext cx="3465829" cy="1040765"/>
          </a:xfrm>
          <a:prstGeom prst="rect"/>
        </p:spPr>
        <p:txBody>
          <a:bodyPr wrap="square" lIns="0" tIns="78740" rIns="0" bIns="0" rtlCol="0" vert="horz">
            <a:spAutoFit/>
          </a:bodyPr>
          <a:lstStyle/>
          <a:p>
            <a:pPr marL="1058545" marR="5080" indent="-1046480">
              <a:lnSpc>
                <a:spcPts val="3760"/>
              </a:lnSpc>
              <a:spcBef>
                <a:spcPts val="620"/>
              </a:spcBef>
            </a:pPr>
            <a:r>
              <a:rPr dirty="0"/>
              <a:t>Functions</a:t>
            </a:r>
            <a:r>
              <a:rPr dirty="0" spc="-50"/>
              <a:t> </a:t>
            </a:r>
            <a:r>
              <a:rPr dirty="0"/>
              <a:t>–</a:t>
            </a:r>
            <a:r>
              <a:rPr dirty="0" spc="-70"/>
              <a:t> </a:t>
            </a:r>
            <a:r>
              <a:rPr dirty="0"/>
              <a:t>how</a:t>
            </a:r>
            <a:r>
              <a:rPr dirty="0" spc="-55"/>
              <a:t> </a:t>
            </a:r>
            <a:r>
              <a:rPr dirty="0" spc="-25"/>
              <a:t>to </a:t>
            </a:r>
            <a:r>
              <a:rPr dirty="0" spc="-10"/>
              <a:t>define?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0" y="1085850"/>
            <a:ext cx="66675" cy="666750"/>
          </a:xfrm>
          <a:custGeom>
            <a:avLst/>
            <a:gdLst/>
            <a:ahLst/>
            <a:cxnLst/>
            <a:rect l="l" t="t" r="r" b="b"/>
            <a:pathLst>
              <a:path w="66675" h="666750">
                <a:moveTo>
                  <a:pt x="66675" y="0"/>
                </a:moveTo>
                <a:lnTo>
                  <a:pt x="0" y="0"/>
                </a:lnTo>
                <a:lnTo>
                  <a:pt x="0" y="666750"/>
                </a:lnTo>
                <a:lnTo>
                  <a:pt x="66675" y="666750"/>
                </a:lnTo>
                <a:lnTo>
                  <a:pt x="666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23825" y="1085850"/>
            <a:ext cx="142875" cy="666750"/>
          </a:xfrm>
          <a:custGeom>
            <a:avLst/>
            <a:gdLst/>
            <a:ahLst/>
            <a:cxnLst/>
            <a:rect l="l" t="t" r="r" b="b"/>
            <a:pathLst>
              <a:path w="142875" h="666750">
                <a:moveTo>
                  <a:pt x="142875" y="0"/>
                </a:moveTo>
                <a:lnTo>
                  <a:pt x="0" y="0"/>
                </a:lnTo>
                <a:lnTo>
                  <a:pt x="0" y="666750"/>
                </a:lnTo>
                <a:lnTo>
                  <a:pt x="142875" y="666750"/>
                </a:lnTo>
                <a:lnTo>
                  <a:pt x="1428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95300" y="2124075"/>
            <a:ext cx="3733800" cy="28575"/>
          </a:xfrm>
          <a:custGeom>
            <a:avLst/>
            <a:gdLst/>
            <a:ahLst/>
            <a:cxnLst/>
            <a:rect l="l" t="t" r="r" b="b"/>
            <a:pathLst>
              <a:path w="3733800" h="28575">
                <a:moveTo>
                  <a:pt x="3733800" y="0"/>
                </a:moveTo>
                <a:lnTo>
                  <a:pt x="0" y="0"/>
                </a:lnTo>
                <a:lnTo>
                  <a:pt x="0" y="28575"/>
                </a:lnTo>
                <a:lnTo>
                  <a:pt x="3733800" y="28575"/>
                </a:lnTo>
                <a:lnTo>
                  <a:pt x="37338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22287" y="2856865"/>
            <a:ext cx="3700779" cy="289814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6350">
              <a:lnSpc>
                <a:spcPct val="89900"/>
              </a:lnSpc>
              <a:spcBef>
                <a:spcPts val="245"/>
              </a:spcBef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Processing, </a:t>
            </a:r>
            <a:r>
              <a:rPr dirty="0" sz="1200" spc="-10">
                <a:latin typeface="Calibri"/>
                <a:cs typeface="Calibri"/>
              </a:rPr>
              <a:t>defining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 other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programming </a:t>
            </a:r>
            <a:r>
              <a:rPr dirty="0" sz="1200">
                <a:latin typeface="Calibri"/>
                <a:cs typeface="Calibri"/>
              </a:rPr>
              <a:t>languages.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You </a:t>
            </a:r>
            <a:r>
              <a:rPr dirty="0" sz="1200">
                <a:latin typeface="Calibri"/>
                <a:cs typeface="Calibri"/>
              </a:rPr>
              <a:t>specify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 (like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void</a:t>
            </a:r>
            <a:r>
              <a:rPr dirty="0" sz="12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dirty="0" sz="1200" spc="-5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dirty="0" sz="12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Calibri"/>
                <a:cs typeface="Calibri"/>
              </a:rPr>
              <a:t>return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dirty="0" sz="1200" spc="-4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1200" spc="1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dirty="0" sz="1200" spc="1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type</a:t>
            </a:r>
            <a:r>
              <a:rPr dirty="0" sz="1200" spc="-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if you</a:t>
            </a:r>
            <a:r>
              <a:rPr dirty="0" sz="1200" spc="-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expect</a:t>
            </a:r>
            <a:r>
              <a:rPr dirty="0" sz="1200" spc="3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1200" spc="-6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dirty="0" sz="1200">
                <a:latin typeface="Calibri"/>
                <a:cs typeface="Calibri"/>
              </a:rPr>
              <a:t>),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provide</a:t>
            </a:r>
            <a:r>
              <a:rPr dirty="0" sz="1200" spc="-60">
                <a:latin typeface="Calibri"/>
                <a:cs typeface="Calibri"/>
              </a:rPr>
              <a:t> a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name,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 </a:t>
            </a:r>
            <a:r>
              <a:rPr dirty="0" sz="1200" spc="-10">
                <a:latin typeface="Calibri"/>
                <a:cs typeface="Calibri"/>
              </a:rPr>
              <a:t>any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parameters</a:t>
            </a:r>
            <a:r>
              <a:rPr dirty="0" sz="1200">
                <a:latin typeface="Calibri"/>
                <a:cs typeface="Calibri"/>
              </a:rPr>
              <a:t> within</a:t>
            </a:r>
            <a:r>
              <a:rPr dirty="0" sz="1200" spc="-10">
                <a:latin typeface="Calibri"/>
                <a:cs typeface="Calibri"/>
              </a:rPr>
              <a:t> parentheses. </a:t>
            </a:r>
            <a:r>
              <a:rPr dirty="0" sz="1200">
                <a:latin typeface="Calibri"/>
                <a:cs typeface="Calibri"/>
              </a:rPr>
              <a:t>The function's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 block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enclosed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braces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{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}.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200" b="1">
                <a:latin typeface="Calibri"/>
                <a:cs typeface="Calibri"/>
              </a:rPr>
              <a:t>Defining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Function:</a:t>
            </a:r>
            <a:endParaRPr sz="1200">
              <a:latin typeface="Calibri"/>
              <a:cs typeface="Calibri"/>
            </a:endParaRPr>
          </a:p>
          <a:p>
            <a:pPr lvl="1" marL="756285" indent="-285750">
              <a:lnSpc>
                <a:spcPts val="1360"/>
              </a:lnSpc>
              <a:spcBef>
                <a:spcPts val="135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displayMessage()</a:t>
            </a:r>
            <a:r>
              <a:rPr dirty="0" sz="12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void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 that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doesn't</a:t>
            </a:r>
            <a:endParaRPr sz="1200">
              <a:latin typeface="Calibri"/>
              <a:cs typeface="Calibri"/>
            </a:endParaRPr>
          </a:p>
          <a:p>
            <a:pPr algn="ctr" marL="342900">
              <a:lnSpc>
                <a:spcPts val="1360"/>
              </a:lnSpc>
            </a:pPr>
            <a:r>
              <a:rPr dirty="0" sz="1200" spc="-10">
                <a:latin typeface="Calibri"/>
                <a:cs typeface="Calibri"/>
              </a:rPr>
              <a:t>return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message.</a:t>
            </a:r>
            <a:endParaRPr sz="1200">
              <a:latin typeface="Calibri"/>
              <a:cs typeface="Calibri"/>
            </a:endParaRPr>
          </a:p>
          <a:p>
            <a:pPr algn="ctr" lvl="1" marL="604520" indent="-285750">
              <a:lnSpc>
                <a:spcPts val="1355"/>
              </a:lnSpc>
              <a:spcBef>
                <a:spcPts val="140"/>
              </a:spcBef>
              <a:buFont typeface="Arial"/>
              <a:buChar char="•"/>
              <a:tabLst>
                <a:tab pos="604520" algn="l"/>
              </a:tabLst>
            </a:pP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add(int</a:t>
            </a:r>
            <a:r>
              <a:rPr dirty="0" sz="12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a,</a:t>
            </a:r>
            <a:r>
              <a:rPr dirty="0" sz="1200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int</a:t>
            </a:r>
            <a:r>
              <a:rPr dirty="0" sz="12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b)</a:t>
            </a:r>
            <a:r>
              <a:rPr dirty="0" sz="12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two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integer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parameters</a:t>
            </a:r>
            <a:endParaRPr sz="1200">
              <a:latin typeface="Calibri"/>
              <a:cs typeface="Calibri"/>
            </a:endParaRPr>
          </a:p>
          <a:p>
            <a:pPr algn="ctr" marR="799465">
              <a:lnSpc>
                <a:spcPts val="1360"/>
              </a:lnSpc>
            </a:pP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returns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sum.</a:t>
            </a:r>
            <a:endParaRPr sz="1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b="1">
                <a:latin typeface="Calibri"/>
                <a:cs typeface="Calibri"/>
              </a:rPr>
              <a:t>Calling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Function:</a:t>
            </a:r>
            <a:endParaRPr sz="1200">
              <a:latin typeface="Calibri"/>
              <a:cs typeface="Calibri"/>
            </a:endParaRPr>
          </a:p>
          <a:p>
            <a:pPr lvl="1" marL="756285" indent="-285750">
              <a:lnSpc>
                <a:spcPts val="1360"/>
              </a:lnSpc>
              <a:spcBef>
                <a:spcPts val="215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setup()</a:t>
            </a:r>
            <a:r>
              <a:rPr dirty="0" sz="1200" spc="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function,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displayMessage()</a:t>
            </a:r>
            <a:r>
              <a:rPr dirty="0" sz="12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is</a:t>
            </a:r>
            <a:endParaRPr sz="1200">
              <a:latin typeface="Calibri"/>
              <a:cs typeface="Calibri"/>
            </a:endParaRPr>
          </a:p>
          <a:p>
            <a:pPr marL="756285">
              <a:lnSpc>
                <a:spcPts val="1360"/>
              </a:lnSpc>
            </a:pP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execute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20">
                <a:latin typeface="Calibri"/>
                <a:cs typeface="Calibri"/>
              </a:rPr>
              <a:t> code.</a:t>
            </a:r>
            <a:endParaRPr sz="1200">
              <a:latin typeface="Calibri"/>
              <a:cs typeface="Calibri"/>
            </a:endParaRPr>
          </a:p>
          <a:p>
            <a:pPr lvl="1" marL="756285" indent="-285750">
              <a:lnSpc>
                <a:spcPts val="1360"/>
              </a:lnSpc>
              <a:spcBef>
                <a:spcPts val="135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result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add(5,</a:t>
            </a:r>
            <a:r>
              <a:rPr dirty="0" sz="12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7)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stored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variable</a:t>
            </a:r>
            <a:endParaRPr sz="1200">
              <a:latin typeface="Calibri"/>
              <a:cs typeface="Calibri"/>
            </a:endParaRPr>
          </a:p>
          <a:p>
            <a:pPr marL="756285">
              <a:lnSpc>
                <a:spcPts val="1360"/>
              </a:lnSpc>
            </a:pP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sum</a:t>
            </a:r>
            <a:r>
              <a:rPr dirty="0" sz="12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println()</a:t>
            </a:r>
            <a:r>
              <a:rPr dirty="0" sz="1200" spc="-1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981575" y="0"/>
            <a:ext cx="4162425" cy="6858000"/>
            <a:chOff x="4981575" y="0"/>
            <a:chExt cx="4162425" cy="6858000"/>
          </a:xfrm>
        </p:grpSpPr>
        <p:sp>
          <p:nvSpPr>
            <p:cNvPr id="8" name="object 8" descr=""/>
            <p:cNvSpPr/>
            <p:nvPr/>
          </p:nvSpPr>
          <p:spPr>
            <a:xfrm>
              <a:off x="8020050" y="0"/>
              <a:ext cx="1123950" cy="6858000"/>
            </a:xfrm>
            <a:custGeom>
              <a:avLst/>
              <a:gdLst/>
              <a:ahLst/>
              <a:cxnLst/>
              <a:rect l="l" t="t" r="r" b="b"/>
              <a:pathLst>
                <a:path w="1123950" h="6858000">
                  <a:moveTo>
                    <a:pt x="11239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123950" y="6858000"/>
                  </a:lnTo>
                  <a:lnTo>
                    <a:pt x="11239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1575" y="333247"/>
              <a:ext cx="3938651" cy="321475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133975" y="361950"/>
              <a:ext cx="3638550" cy="2914650"/>
            </a:xfrm>
            <a:custGeom>
              <a:avLst/>
              <a:gdLst/>
              <a:ahLst/>
              <a:cxnLst/>
              <a:rect l="l" t="t" r="r" b="b"/>
              <a:pathLst>
                <a:path w="3638550" h="2914650">
                  <a:moveTo>
                    <a:pt x="3638550" y="0"/>
                  </a:moveTo>
                  <a:lnTo>
                    <a:pt x="0" y="0"/>
                  </a:lnTo>
                  <a:lnTo>
                    <a:pt x="0" y="2914650"/>
                  </a:lnTo>
                  <a:lnTo>
                    <a:pt x="3638550" y="29146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4950" y="1104900"/>
              <a:ext cx="3295650" cy="147637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1575" y="3476561"/>
              <a:ext cx="3938651" cy="322427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133975" y="3505200"/>
              <a:ext cx="3638550" cy="2924175"/>
            </a:xfrm>
            <a:custGeom>
              <a:avLst/>
              <a:gdLst/>
              <a:ahLst/>
              <a:cxnLst/>
              <a:rect l="l" t="t" r="r" b="b"/>
              <a:pathLst>
                <a:path w="3638550" h="2924175">
                  <a:moveTo>
                    <a:pt x="3638550" y="0"/>
                  </a:moveTo>
                  <a:lnTo>
                    <a:pt x="0" y="0"/>
                  </a:lnTo>
                  <a:lnTo>
                    <a:pt x="0" y="2924175"/>
                  </a:lnTo>
                  <a:lnTo>
                    <a:pt x="3638550" y="2924175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0200" y="3705225"/>
              <a:ext cx="3105150" cy="25241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76250" y="609600"/>
            <a:ext cx="8429625" cy="5924550"/>
            <a:chOff x="476250" y="609600"/>
            <a:chExt cx="8429625" cy="5924550"/>
          </a:xfrm>
        </p:grpSpPr>
        <p:sp>
          <p:nvSpPr>
            <p:cNvPr id="3" name="object 3" descr=""/>
            <p:cNvSpPr/>
            <p:nvPr/>
          </p:nvSpPr>
          <p:spPr>
            <a:xfrm>
              <a:off x="6429375" y="3333750"/>
              <a:ext cx="2476500" cy="3200400"/>
            </a:xfrm>
            <a:custGeom>
              <a:avLst/>
              <a:gdLst/>
              <a:ahLst/>
              <a:cxnLst/>
              <a:rect l="l" t="t" r="r" b="b"/>
              <a:pathLst>
                <a:path w="2476500" h="3200400">
                  <a:moveTo>
                    <a:pt x="2476500" y="0"/>
                  </a:moveTo>
                  <a:lnTo>
                    <a:pt x="0" y="3200400"/>
                  </a:lnTo>
                  <a:lnTo>
                    <a:pt x="2476500" y="3200400"/>
                  </a:lnTo>
                  <a:lnTo>
                    <a:pt x="24765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85775" y="619125"/>
              <a:ext cx="8172450" cy="5610225"/>
            </a:xfrm>
            <a:custGeom>
              <a:avLst/>
              <a:gdLst/>
              <a:ahLst/>
              <a:cxnLst/>
              <a:rect l="l" t="t" r="r" b="b"/>
              <a:pathLst>
                <a:path w="8172450" h="5610225">
                  <a:moveTo>
                    <a:pt x="0" y="5610225"/>
                  </a:moveTo>
                  <a:lnTo>
                    <a:pt x="8172450" y="5610225"/>
                  </a:lnTo>
                  <a:lnTo>
                    <a:pt x="8172450" y="0"/>
                  </a:lnTo>
                  <a:lnTo>
                    <a:pt x="0" y="0"/>
                  </a:lnTo>
                  <a:lnTo>
                    <a:pt x="0" y="5610225"/>
                  </a:lnTo>
                  <a:close/>
                </a:path>
              </a:pathLst>
            </a:custGeom>
            <a:ln w="190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3173729" y="4667948"/>
            <a:ext cx="1525270" cy="8153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150" spc="-20">
                <a:latin typeface="Calibri"/>
                <a:cs typeface="Calibri"/>
              </a:rPr>
              <a:t>Void?</a:t>
            </a:r>
            <a:endParaRPr sz="51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409700"/>
            <a:ext cx="2209800" cy="22002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73145" y="1118552"/>
            <a:ext cx="4350385" cy="110109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515"/>
              </a:lnSpc>
              <a:spcBef>
                <a:spcPts val="125"/>
              </a:spcBef>
            </a:pPr>
            <a:r>
              <a:rPr dirty="0" sz="1400"/>
              <a:t>In</a:t>
            </a:r>
            <a:r>
              <a:rPr dirty="0" sz="1400" spc="-35"/>
              <a:t> </a:t>
            </a:r>
            <a:r>
              <a:rPr dirty="0" sz="1400" spc="-10"/>
              <a:t>Processing,</a:t>
            </a:r>
            <a:r>
              <a:rPr dirty="0" sz="1400" spc="-15"/>
              <a:t> </a:t>
            </a:r>
            <a:r>
              <a:rPr dirty="0" sz="1400"/>
              <a:t>both</a:t>
            </a:r>
            <a:r>
              <a:rPr dirty="0" sz="1400" spc="-35"/>
              <a:t> </a:t>
            </a:r>
            <a:r>
              <a:rPr dirty="0" sz="1400"/>
              <a:t>the</a:t>
            </a:r>
            <a:r>
              <a:rPr dirty="0" sz="1400" spc="15"/>
              <a:t> </a:t>
            </a:r>
            <a:r>
              <a:rPr dirty="0" sz="1400">
                <a:solidFill>
                  <a:srgbClr val="FF0000"/>
                </a:solidFill>
              </a:rPr>
              <a:t>setup()</a:t>
            </a:r>
            <a:r>
              <a:rPr dirty="0" sz="1400" spc="-5">
                <a:solidFill>
                  <a:srgbClr val="FF0000"/>
                </a:solidFill>
              </a:rPr>
              <a:t> </a:t>
            </a:r>
            <a:r>
              <a:rPr dirty="0" sz="1400"/>
              <a:t>and</a:t>
            </a:r>
            <a:r>
              <a:rPr dirty="0" sz="1400" spc="-40"/>
              <a:t> </a:t>
            </a:r>
            <a:r>
              <a:rPr dirty="0" sz="1400">
                <a:solidFill>
                  <a:srgbClr val="FF0000"/>
                </a:solidFill>
              </a:rPr>
              <a:t>draw()</a:t>
            </a:r>
            <a:r>
              <a:rPr dirty="0" sz="1400" spc="-40">
                <a:solidFill>
                  <a:srgbClr val="FF0000"/>
                </a:solidFill>
              </a:rPr>
              <a:t> </a:t>
            </a:r>
            <a:r>
              <a:rPr dirty="0" sz="1400"/>
              <a:t>functions</a:t>
            </a:r>
            <a:r>
              <a:rPr dirty="0" sz="1400" spc="-65"/>
              <a:t> </a:t>
            </a:r>
            <a:r>
              <a:rPr dirty="0" sz="1400" spc="-25"/>
              <a:t>are</a:t>
            </a:r>
            <a:endParaRPr sz="1400"/>
          </a:p>
          <a:p>
            <a:pPr marL="12700" marR="5080">
              <a:lnSpc>
                <a:spcPct val="80400"/>
              </a:lnSpc>
              <a:spcBef>
                <a:spcPts val="165"/>
              </a:spcBef>
            </a:pPr>
            <a:r>
              <a:rPr dirty="0" sz="1400"/>
              <a:t>defined</a:t>
            </a:r>
            <a:r>
              <a:rPr dirty="0" sz="1400" spc="-60"/>
              <a:t> </a:t>
            </a:r>
            <a:r>
              <a:rPr dirty="0" sz="1400"/>
              <a:t>as</a:t>
            </a:r>
            <a:r>
              <a:rPr dirty="0" sz="1400" spc="-40"/>
              <a:t> </a:t>
            </a:r>
            <a:r>
              <a:rPr dirty="0" sz="1400" b="1">
                <a:latin typeface="Calibri"/>
                <a:cs typeface="Calibri"/>
              </a:rPr>
              <a:t>void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/>
              <a:t>because</a:t>
            </a:r>
            <a:r>
              <a:rPr dirty="0" sz="1400" spc="-30"/>
              <a:t> </a:t>
            </a:r>
            <a:r>
              <a:rPr dirty="0" sz="1400"/>
              <a:t>they</a:t>
            </a:r>
            <a:r>
              <a:rPr dirty="0" sz="1400" spc="-35"/>
              <a:t> </a:t>
            </a:r>
            <a:r>
              <a:rPr dirty="0" sz="1400"/>
              <a:t>don't</a:t>
            </a:r>
            <a:r>
              <a:rPr dirty="0" sz="1400" spc="-25"/>
              <a:t> </a:t>
            </a:r>
            <a:r>
              <a:rPr dirty="0" sz="1400"/>
              <a:t>return</a:t>
            </a:r>
            <a:r>
              <a:rPr dirty="0" sz="1400" spc="-55"/>
              <a:t> </a:t>
            </a:r>
            <a:r>
              <a:rPr dirty="0" sz="1400"/>
              <a:t>any</a:t>
            </a:r>
            <a:r>
              <a:rPr dirty="0" sz="1400" spc="-40"/>
              <a:t> </a:t>
            </a:r>
            <a:r>
              <a:rPr dirty="0" sz="1400" spc="-10"/>
              <a:t>values. </a:t>
            </a:r>
            <a:r>
              <a:rPr dirty="0" sz="1400"/>
              <a:t>Instead,</a:t>
            </a:r>
            <a:r>
              <a:rPr dirty="0" sz="1400" spc="-15"/>
              <a:t> </a:t>
            </a:r>
            <a:r>
              <a:rPr dirty="0" sz="1400"/>
              <a:t>they're</a:t>
            </a:r>
            <a:r>
              <a:rPr dirty="0" sz="1400" spc="5"/>
              <a:t> </a:t>
            </a:r>
            <a:r>
              <a:rPr dirty="0" sz="1400" spc="-10"/>
              <a:t>designed</a:t>
            </a:r>
            <a:r>
              <a:rPr dirty="0" sz="1400" spc="-35"/>
              <a:t> </a:t>
            </a:r>
            <a:r>
              <a:rPr dirty="0" sz="1400"/>
              <a:t>to</a:t>
            </a:r>
            <a:r>
              <a:rPr dirty="0" sz="1400" spc="-35"/>
              <a:t> </a:t>
            </a:r>
            <a:r>
              <a:rPr dirty="0" sz="1400" spc="-10"/>
              <a:t>perform</a:t>
            </a:r>
            <a:r>
              <a:rPr dirty="0" sz="1400" spc="-45"/>
              <a:t> </a:t>
            </a:r>
            <a:r>
              <a:rPr dirty="0" sz="1400" spc="-10"/>
              <a:t>actions</a:t>
            </a:r>
            <a:r>
              <a:rPr dirty="0" sz="1400" spc="-65"/>
              <a:t> </a:t>
            </a:r>
            <a:r>
              <a:rPr dirty="0" sz="1400"/>
              <a:t>(like</a:t>
            </a:r>
            <a:r>
              <a:rPr dirty="0" sz="1400" spc="-15"/>
              <a:t> </a:t>
            </a:r>
            <a:r>
              <a:rPr dirty="0" sz="1400" b="1">
                <a:latin typeface="Calibri"/>
                <a:cs typeface="Calibri"/>
              </a:rPr>
              <a:t>setting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up </a:t>
            </a: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8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canvas </a:t>
            </a:r>
            <a:r>
              <a:rPr dirty="0" sz="1400"/>
              <a:t>or</a:t>
            </a:r>
            <a:r>
              <a:rPr dirty="0" sz="1400" spc="-45"/>
              <a:t> </a:t>
            </a:r>
            <a:r>
              <a:rPr dirty="0" sz="1400" b="1">
                <a:latin typeface="Calibri"/>
                <a:cs typeface="Calibri"/>
              </a:rPr>
              <a:t>continuously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drawing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on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it</a:t>
            </a:r>
            <a:r>
              <a:rPr dirty="0" sz="1400"/>
              <a:t>)</a:t>
            </a:r>
            <a:r>
              <a:rPr dirty="0" sz="1400" spc="-30"/>
              <a:t> </a:t>
            </a:r>
            <a:r>
              <a:rPr dirty="0" sz="1400" b="1">
                <a:latin typeface="Calibri"/>
                <a:cs typeface="Calibri"/>
              </a:rPr>
              <a:t>without</a:t>
            </a:r>
            <a:r>
              <a:rPr dirty="0" sz="1400" spc="-10" b="1">
                <a:latin typeface="Calibri"/>
                <a:cs typeface="Calibri"/>
              </a:rPr>
              <a:t> needing </a:t>
            </a:r>
            <a:r>
              <a:rPr dirty="0" sz="1400" b="1">
                <a:latin typeface="Calibri"/>
                <a:cs typeface="Calibri"/>
              </a:rPr>
              <a:t>to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send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any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data</a:t>
            </a:r>
            <a:r>
              <a:rPr dirty="0" sz="1400" spc="-6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back</a:t>
            </a:r>
            <a:r>
              <a:rPr dirty="0" sz="1400" spc="-10" b="1">
                <a:latin typeface="Calibri"/>
                <a:cs typeface="Calibri"/>
              </a:rPr>
              <a:t> </a:t>
            </a:r>
            <a:r>
              <a:rPr dirty="0" sz="1400"/>
              <a:t>to</a:t>
            </a:r>
            <a:r>
              <a:rPr dirty="0" sz="1400" spc="-30"/>
              <a:t> </a:t>
            </a:r>
            <a:r>
              <a:rPr dirty="0" sz="1400"/>
              <a:t>the</a:t>
            </a:r>
            <a:r>
              <a:rPr dirty="0" sz="1400" spc="10"/>
              <a:t> </a:t>
            </a:r>
            <a:r>
              <a:rPr dirty="0" sz="1400"/>
              <a:t>part</a:t>
            </a:r>
            <a:r>
              <a:rPr dirty="0" sz="1400" spc="5"/>
              <a:t> </a:t>
            </a:r>
            <a:r>
              <a:rPr dirty="0" sz="1400"/>
              <a:t>of</a:t>
            </a:r>
            <a:r>
              <a:rPr dirty="0" sz="1400" spc="-15"/>
              <a:t> </a:t>
            </a:r>
            <a:r>
              <a:rPr dirty="0" sz="1400"/>
              <a:t>the</a:t>
            </a:r>
            <a:r>
              <a:rPr dirty="0" sz="1400" spc="5"/>
              <a:t> </a:t>
            </a:r>
            <a:r>
              <a:rPr dirty="0" sz="1400" spc="-10"/>
              <a:t>program</a:t>
            </a:r>
            <a:r>
              <a:rPr dirty="0" sz="1400" spc="-45"/>
              <a:t> </a:t>
            </a:r>
            <a:r>
              <a:rPr dirty="0" sz="1400"/>
              <a:t>that</a:t>
            </a:r>
            <a:r>
              <a:rPr dirty="0" sz="1400" spc="-60"/>
              <a:t> </a:t>
            </a:r>
            <a:r>
              <a:rPr dirty="0" sz="1400" spc="-10"/>
              <a:t>calls them.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73145" y="2406078"/>
            <a:ext cx="4433570" cy="199834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445"/>
              </a:spcBef>
            </a:pPr>
            <a:r>
              <a:rPr dirty="0" sz="1400">
                <a:latin typeface="Calibri"/>
                <a:cs typeface="Calibri"/>
              </a:rPr>
              <a:t>Processing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built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around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specific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structure.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 spc="-10">
                <a:latin typeface="Calibri"/>
                <a:cs typeface="Calibri"/>
              </a:rPr>
              <a:t>environment </a:t>
            </a:r>
            <a:r>
              <a:rPr dirty="0" sz="1400">
                <a:latin typeface="Calibri"/>
                <a:cs typeface="Calibri"/>
              </a:rPr>
              <a:t>expects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setup()</a:t>
            </a:r>
            <a:r>
              <a:rPr dirty="0"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draw()</a:t>
            </a:r>
            <a:r>
              <a:rPr dirty="0" sz="14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10">
                <a:latin typeface="Calibri"/>
                <a:cs typeface="Calibri"/>
              </a:rPr>
              <a:t> designated times: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ts val="1655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400" b="1">
                <a:solidFill>
                  <a:srgbClr val="FF0000"/>
                </a:solidFill>
                <a:latin typeface="Calibri"/>
                <a:cs typeface="Calibri"/>
              </a:rPr>
              <a:t>setup()</a:t>
            </a:r>
            <a:r>
              <a:rPr dirty="0" sz="1400" spc="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runs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once</a:t>
            </a:r>
            <a:r>
              <a:rPr dirty="0" sz="1400" spc="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when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program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starts.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ts val="1664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400" b="1">
                <a:solidFill>
                  <a:srgbClr val="FF0000"/>
                </a:solidFill>
                <a:latin typeface="Calibri"/>
                <a:cs typeface="Calibri"/>
              </a:rPr>
              <a:t>draw()</a:t>
            </a:r>
            <a:r>
              <a:rPr dirty="0" sz="1400" spc="-2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runs</a:t>
            </a:r>
            <a:r>
              <a:rPr dirty="0" sz="1400" spc="-6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in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</a:t>
            </a:r>
            <a:r>
              <a:rPr dirty="0" sz="1400" spc="2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loop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after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0000"/>
                </a:solidFill>
                <a:latin typeface="Calibri"/>
                <a:cs typeface="Calibri"/>
              </a:rPr>
              <a:t>setup()</a:t>
            </a:r>
            <a:r>
              <a:rPr dirty="0" sz="1400" spc="-10" b="1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700"/>
              </a:spcBef>
            </a:pP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static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sketches</a:t>
            </a:r>
            <a:r>
              <a:rPr dirty="0" sz="1400" spc="-10">
                <a:latin typeface="Calibri"/>
                <a:cs typeface="Calibri"/>
              </a:rPr>
              <a:t>,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might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only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setup()</a:t>
            </a:r>
            <a:r>
              <a:rPr dirty="0" sz="1400" spc="-1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algn="just" marL="12700" marR="266700">
              <a:lnSpc>
                <a:spcPts val="1350"/>
              </a:lnSpc>
              <a:spcBef>
                <a:spcPts val="365"/>
              </a:spcBef>
            </a:pP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animated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or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interactive</a:t>
            </a:r>
            <a:r>
              <a:rPr dirty="0" sz="1400" spc="-6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sketches</a:t>
            </a:r>
            <a:r>
              <a:rPr dirty="0" sz="1400" spc="-10">
                <a:latin typeface="Calibri"/>
                <a:cs typeface="Calibri"/>
              </a:rPr>
              <a:t>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generally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need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draw()</a:t>
            </a:r>
            <a:r>
              <a:rPr dirty="0"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addition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setup()</a:t>
            </a:r>
            <a:r>
              <a:rPr dirty="0" sz="1400">
                <a:latin typeface="Calibri"/>
                <a:cs typeface="Calibri"/>
              </a:rPr>
              <a:t>)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continuously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update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 spc="-10">
                <a:latin typeface="Calibri"/>
                <a:cs typeface="Calibri"/>
              </a:rPr>
              <a:t>screen.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264" y="950213"/>
            <a:ext cx="5012690" cy="6667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200"/>
              <a:t>Functions</a:t>
            </a:r>
            <a:r>
              <a:rPr dirty="0" sz="4200" spc="-50"/>
              <a:t> </a:t>
            </a:r>
            <a:r>
              <a:rPr dirty="0" sz="4200"/>
              <a:t>-</a:t>
            </a:r>
            <a:r>
              <a:rPr dirty="0" sz="4200" spc="-60"/>
              <a:t> </a:t>
            </a:r>
            <a:r>
              <a:rPr dirty="0" sz="4200" spc="-10"/>
              <a:t>parameters</a:t>
            </a:r>
            <a:endParaRPr sz="4200"/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000250"/>
            <a:ext cx="8682355" cy="4739005"/>
            <a:chOff x="0" y="2000250"/>
            <a:chExt cx="8682355" cy="4739005"/>
          </a:xfrm>
        </p:grpSpPr>
        <p:sp>
          <p:nvSpPr>
            <p:cNvPr id="4" name="object 4" descr=""/>
            <p:cNvSpPr/>
            <p:nvPr/>
          </p:nvSpPr>
          <p:spPr>
            <a:xfrm>
              <a:off x="0" y="2000250"/>
              <a:ext cx="8591550" cy="781050"/>
            </a:xfrm>
            <a:custGeom>
              <a:avLst/>
              <a:gdLst/>
              <a:ahLst/>
              <a:cxnLst/>
              <a:rect l="l" t="t" r="r" b="b"/>
              <a:pathLst>
                <a:path w="8591550" h="781050">
                  <a:moveTo>
                    <a:pt x="859155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8591550" y="781050"/>
                  </a:lnTo>
                  <a:lnTo>
                    <a:pt x="85915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71636"/>
              <a:ext cx="8682101" cy="456730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2200275"/>
              <a:ext cx="8534400" cy="4267200"/>
            </a:xfrm>
            <a:custGeom>
              <a:avLst/>
              <a:gdLst/>
              <a:ahLst/>
              <a:cxnLst/>
              <a:rect l="l" t="t" r="r" b="b"/>
              <a:pathLst>
                <a:path w="8534400" h="4267200">
                  <a:moveTo>
                    <a:pt x="85344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8534400" y="4267200"/>
                  </a:lnTo>
                  <a:lnTo>
                    <a:pt x="853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47027" y="2496502"/>
            <a:ext cx="3869690" cy="382968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ct val="91400"/>
              </a:lnSpc>
              <a:spcBef>
                <a:spcPts val="210"/>
              </a:spcBef>
            </a:pPr>
            <a:r>
              <a:rPr dirty="0" sz="1050" b="1">
                <a:latin typeface="Calibri"/>
                <a:cs typeface="Calibri"/>
              </a:rPr>
              <a:t>Parameters are</a:t>
            </a:r>
            <a:r>
              <a:rPr dirty="0" sz="1050" spc="-2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variables</a:t>
            </a:r>
            <a:r>
              <a:rPr dirty="0" sz="1050" spc="1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that</a:t>
            </a:r>
            <a:r>
              <a:rPr dirty="0" sz="1050" spc="-1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you</a:t>
            </a:r>
            <a:r>
              <a:rPr dirty="0" sz="1050" spc="15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include</a:t>
            </a:r>
            <a:r>
              <a:rPr dirty="0" sz="1050" spc="-3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in</a:t>
            </a:r>
            <a:r>
              <a:rPr dirty="0" sz="1050" spc="1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a</a:t>
            </a:r>
            <a:r>
              <a:rPr dirty="0" sz="1050" spc="-15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function's</a:t>
            </a:r>
            <a:r>
              <a:rPr dirty="0" sz="1050" spc="-6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definition</a:t>
            </a:r>
            <a:r>
              <a:rPr dirty="0" sz="1050" spc="-60" b="1">
                <a:latin typeface="Calibri"/>
                <a:cs typeface="Calibri"/>
              </a:rPr>
              <a:t> </a:t>
            </a:r>
            <a:r>
              <a:rPr dirty="0" sz="1050" spc="-25" b="1">
                <a:latin typeface="Calibri"/>
                <a:cs typeface="Calibri"/>
              </a:rPr>
              <a:t>to </a:t>
            </a:r>
            <a:r>
              <a:rPr dirty="0" sz="1050" b="1">
                <a:latin typeface="Calibri"/>
                <a:cs typeface="Calibri"/>
              </a:rPr>
              <a:t>allow</a:t>
            </a:r>
            <a:r>
              <a:rPr dirty="0" sz="1050" spc="-2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you</a:t>
            </a:r>
            <a:r>
              <a:rPr dirty="0" sz="1050" spc="-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to</a:t>
            </a:r>
            <a:r>
              <a:rPr dirty="0" sz="1050" spc="-6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pass</a:t>
            </a:r>
            <a:r>
              <a:rPr dirty="0" sz="1050" spc="-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values</a:t>
            </a:r>
            <a:r>
              <a:rPr dirty="0" sz="1050" spc="-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into</a:t>
            </a:r>
            <a:r>
              <a:rPr dirty="0" sz="1050" spc="-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the</a:t>
            </a:r>
            <a:r>
              <a:rPr dirty="0" sz="1050" spc="30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function</a:t>
            </a:r>
            <a:r>
              <a:rPr dirty="0" sz="1050" spc="-5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when it</a:t>
            </a:r>
            <a:r>
              <a:rPr dirty="0" sz="1050" spc="-2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is</a:t>
            </a:r>
            <a:r>
              <a:rPr dirty="0" sz="1050" spc="-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called.</a:t>
            </a:r>
            <a:r>
              <a:rPr dirty="0" sz="1050" spc="20" b="1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They </a:t>
            </a:r>
            <a:r>
              <a:rPr dirty="0" sz="1050">
                <a:latin typeface="Calibri"/>
                <a:cs typeface="Calibri"/>
              </a:rPr>
              <a:t>enable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function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operate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on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different data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each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time,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making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the </a:t>
            </a:r>
            <a:r>
              <a:rPr dirty="0" sz="1050">
                <a:latin typeface="Calibri"/>
                <a:cs typeface="Calibri"/>
              </a:rPr>
              <a:t>function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more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flexible</a:t>
            </a:r>
            <a:r>
              <a:rPr dirty="0" sz="1050" spc="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-6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reusable.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  <a:spcBef>
                <a:spcPts val="5"/>
              </a:spcBef>
            </a:pPr>
            <a:r>
              <a:rPr dirty="0" sz="1050" b="1">
                <a:latin typeface="Calibri"/>
                <a:cs typeface="Calibri"/>
              </a:rPr>
              <a:t>Placeholders: </a:t>
            </a:r>
            <a:r>
              <a:rPr dirty="0" sz="1050">
                <a:latin typeface="Calibri"/>
                <a:cs typeface="Calibri"/>
              </a:rPr>
              <a:t>Parameters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act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as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placeholders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for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values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50">
                <a:latin typeface="Calibri"/>
                <a:cs typeface="Calibri"/>
              </a:rPr>
              <a:t>(arguments)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that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you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provide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when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calling</a:t>
            </a:r>
            <a:r>
              <a:rPr dirty="0" sz="1050">
                <a:latin typeface="Calibri"/>
                <a:cs typeface="Calibri"/>
              </a:rPr>
              <a:t> the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function.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  <a:spcBef>
                <a:spcPts val="90"/>
              </a:spcBef>
            </a:pPr>
            <a:r>
              <a:rPr dirty="0" sz="1050" b="1">
                <a:latin typeface="Calibri"/>
                <a:cs typeface="Calibri"/>
              </a:rPr>
              <a:t>Data</a:t>
            </a:r>
            <a:r>
              <a:rPr dirty="0" sz="1050" spc="-10" b="1">
                <a:latin typeface="Calibri"/>
                <a:cs typeface="Calibri"/>
              </a:rPr>
              <a:t> Types:</a:t>
            </a:r>
            <a:r>
              <a:rPr dirty="0" sz="1050" spc="30" b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Processing,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each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parameter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must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have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specified</a:t>
            </a:r>
            <a:r>
              <a:rPr dirty="0" sz="1050" spc="30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data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50">
                <a:latin typeface="Calibri"/>
                <a:cs typeface="Calibri"/>
              </a:rPr>
              <a:t>type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(e.g.,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int,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float,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String).</a:t>
            </a:r>
            <a:endParaRPr sz="1050">
              <a:latin typeface="Calibri"/>
              <a:cs typeface="Calibri"/>
            </a:endParaRPr>
          </a:p>
          <a:p>
            <a:pPr marL="12700" marR="222885">
              <a:lnSpc>
                <a:spcPct val="89400"/>
              </a:lnSpc>
              <a:spcBef>
                <a:spcPts val="300"/>
              </a:spcBef>
            </a:pPr>
            <a:r>
              <a:rPr dirty="0" sz="1050" b="1">
                <a:latin typeface="Calibri"/>
                <a:cs typeface="Calibri"/>
              </a:rPr>
              <a:t>Order</a:t>
            </a:r>
            <a:r>
              <a:rPr dirty="0" sz="1050" spc="-4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Matters:</a:t>
            </a:r>
            <a:r>
              <a:rPr dirty="0" sz="1050" spc="-40" b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order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which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parameters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are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defined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the </a:t>
            </a:r>
            <a:r>
              <a:rPr dirty="0" sz="1050">
                <a:latin typeface="Calibri"/>
                <a:cs typeface="Calibri"/>
              </a:rPr>
              <a:t>function must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match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order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arguments </a:t>
            </a:r>
            <a:r>
              <a:rPr dirty="0" sz="1050" spc="-10">
                <a:latin typeface="Calibri"/>
                <a:cs typeface="Calibri"/>
              </a:rPr>
              <a:t>passed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during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the </a:t>
            </a:r>
            <a:r>
              <a:rPr dirty="0" sz="1050">
                <a:latin typeface="Calibri"/>
                <a:cs typeface="Calibri"/>
              </a:rPr>
              <a:t>function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call.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50" b="1">
                <a:latin typeface="Calibri"/>
                <a:cs typeface="Calibri"/>
              </a:rPr>
              <a:t>Function</a:t>
            </a:r>
            <a:r>
              <a:rPr dirty="0" sz="1050" spc="-35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Definition: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function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0000"/>
                </a:solidFill>
                <a:latin typeface="Calibri"/>
                <a:cs typeface="Calibri"/>
              </a:rPr>
              <a:t>drawColoredCircle</a:t>
            </a:r>
            <a:r>
              <a:rPr dirty="0" sz="10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is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defined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with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four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parameters: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050" b="1">
                <a:latin typeface="Calibri"/>
                <a:cs typeface="Calibri"/>
              </a:rPr>
              <a:t>x</a:t>
            </a:r>
            <a:r>
              <a:rPr dirty="0" sz="1050" spc="2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and</a:t>
            </a:r>
            <a:r>
              <a:rPr dirty="0" sz="1050" spc="2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y</a:t>
            </a:r>
            <a:r>
              <a:rPr dirty="0" sz="1050" spc="15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(type</a:t>
            </a:r>
            <a:r>
              <a:rPr dirty="0" sz="1050" spc="-1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float):</a:t>
            </a:r>
            <a:r>
              <a:rPr dirty="0" sz="1050" spc="-25" b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Determine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position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10">
                <a:latin typeface="Calibri"/>
                <a:cs typeface="Calibri"/>
              </a:rPr>
              <a:t> circle.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latin typeface="Calibri"/>
                <a:cs typeface="Calibri"/>
              </a:rPr>
              <a:t>radius</a:t>
            </a:r>
            <a:r>
              <a:rPr dirty="0" sz="1050" spc="-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(type</a:t>
            </a:r>
            <a:r>
              <a:rPr dirty="0" sz="1050" spc="-3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float)</a:t>
            </a:r>
            <a:r>
              <a:rPr dirty="0" sz="1050">
                <a:latin typeface="Calibri"/>
                <a:cs typeface="Calibri"/>
              </a:rPr>
              <a:t>: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Determines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size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circle.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b="1">
                <a:latin typeface="Calibri"/>
                <a:cs typeface="Calibri"/>
              </a:rPr>
              <a:t>c</a:t>
            </a:r>
            <a:r>
              <a:rPr dirty="0" sz="1050" spc="-4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(type</a:t>
            </a:r>
            <a:r>
              <a:rPr dirty="0" sz="1050" spc="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color)</a:t>
            </a:r>
            <a:r>
              <a:rPr dirty="0" sz="1050">
                <a:latin typeface="Calibri"/>
                <a:cs typeface="Calibri"/>
              </a:rPr>
              <a:t>: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Determines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fill</a:t>
            </a:r>
            <a:r>
              <a:rPr dirty="0" sz="1050" spc="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colour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circle.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190"/>
              </a:lnSpc>
              <a:spcBef>
                <a:spcPts val="1220"/>
              </a:spcBef>
            </a:pPr>
            <a:r>
              <a:rPr dirty="0" sz="1050" b="1">
                <a:latin typeface="Calibri"/>
                <a:cs typeface="Calibri"/>
              </a:rPr>
              <a:t>Function</a:t>
            </a:r>
            <a:r>
              <a:rPr dirty="0" sz="1050" spc="-20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Call:</a:t>
            </a:r>
            <a:endParaRPr sz="1050">
              <a:latin typeface="Calibri"/>
              <a:cs typeface="Calibri"/>
            </a:endParaRPr>
          </a:p>
          <a:p>
            <a:pPr marL="12700" marR="30480">
              <a:lnSpc>
                <a:spcPct val="91400"/>
              </a:lnSpc>
              <a:spcBef>
                <a:spcPts val="40"/>
              </a:spcBef>
            </a:pPr>
            <a:r>
              <a:rPr dirty="0" sz="1050">
                <a:latin typeface="Calibri"/>
                <a:cs typeface="Calibri"/>
              </a:rPr>
              <a:t>In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0000"/>
                </a:solidFill>
                <a:latin typeface="Calibri"/>
                <a:cs typeface="Calibri"/>
              </a:rPr>
              <a:t>setup()</a:t>
            </a:r>
            <a:r>
              <a:rPr dirty="0" sz="105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function,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0000"/>
                </a:solidFill>
                <a:latin typeface="Calibri"/>
                <a:cs typeface="Calibri"/>
              </a:rPr>
              <a:t>drawColoredCircle</a:t>
            </a:r>
            <a:r>
              <a:rPr dirty="0" sz="1050" spc="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is</a:t>
            </a:r>
            <a:r>
              <a:rPr dirty="0" sz="1050" spc="3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called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with</a:t>
            </a:r>
            <a:r>
              <a:rPr dirty="0" sz="1050" spc="4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specific</a:t>
            </a:r>
            <a:r>
              <a:rPr dirty="0" sz="105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values </a:t>
            </a:r>
            <a:r>
              <a:rPr dirty="0" sz="1050">
                <a:latin typeface="Calibri"/>
                <a:cs typeface="Calibri"/>
              </a:rPr>
              <a:t>for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each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parameter.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This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allows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same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function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used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draw </a:t>
            </a:r>
            <a:r>
              <a:rPr dirty="0" sz="1050">
                <a:latin typeface="Calibri"/>
                <a:cs typeface="Calibri"/>
              </a:rPr>
              <a:t>circles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at</a:t>
            </a:r>
            <a:r>
              <a:rPr dirty="0" sz="1050" spc="-6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different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positions,</a:t>
            </a:r>
            <a:r>
              <a:rPr dirty="0" sz="1050" spc="-10">
                <a:latin typeface="Calibri"/>
                <a:cs typeface="Calibri"/>
              </a:rPr>
              <a:t> sizes, </a:t>
            </a:r>
            <a:r>
              <a:rPr dirty="0" sz="1050">
                <a:latin typeface="Calibri"/>
                <a:cs typeface="Calibri"/>
              </a:rPr>
              <a:t>or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colours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by simply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changing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the </a:t>
            </a:r>
            <a:r>
              <a:rPr dirty="0" sz="1050" spc="-10">
                <a:latin typeface="Calibri"/>
                <a:cs typeface="Calibri"/>
              </a:rPr>
              <a:t>arguments.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191000" y="2000250"/>
            <a:ext cx="4581525" cy="3495675"/>
            <a:chOff x="4191000" y="2000250"/>
            <a:chExt cx="4581525" cy="34956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1000" y="3171825"/>
              <a:ext cx="4314825" cy="232410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658225" y="2000250"/>
              <a:ext cx="114300" cy="781050"/>
            </a:xfrm>
            <a:custGeom>
              <a:avLst/>
              <a:gdLst/>
              <a:ahLst/>
              <a:cxnLst/>
              <a:rect l="l" t="t" r="r" b="b"/>
              <a:pathLst>
                <a:path w="114300" h="781050">
                  <a:moveTo>
                    <a:pt x="11430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114300" y="7810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1708" rIns="0" bIns="0" rtlCol="0" vert="horz">
            <a:spAutoFit/>
          </a:bodyPr>
          <a:lstStyle/>
          <a:p>
            <a:pPr marL="1076325">
              <a:lnSpc>
                <a:spcPct val="100000"/>
              </a:lnSpc>
              <a:spcBef>
                <a:spcPts val="105"/>
              </a:spcBef>
            </a:pPr>
            <a:r>
              <a:rPr dirty="0" sz="4200"/>
              <a:t>Functions</a:t>
            </a:r>
            <a:r>
              <a:rPr dirty="0" sz="4200" spc="-80"/>
              <a:t> </a:t>
            </a:r>
            <a:r>
              <a:rPr dirty="0" sz="4200"/>
              <a:t>–</a:t>
            </a:r>
            <a:r>
              <a:rPr dirty="0" sz="4200" spc="-100"/>
              <a:t> </a:t>
            </a:r>
            <a:r>
              <a:rPr dirty="0" sz="4200"/>
              <a:t>return</a:t>
            </a:r>
            <a:r>
              <a:rPr dirty="0" sz="4200" spc="-95"/>
              <a:t> </a:t>
            </a:r>
            <a:r>
              <a:rPr dirty="0" sz="4200" spc="-10"/>
              <a:t>values</a:t>
            </a:r>
            <a:endParaRPr sz="4200"/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000250"/>
            <a:ext cx="8682355" cy="4739005"/>
            <a:chOff x="0" y="2000250"/>
            <a:chExt cx="8682355" cy="4739005"/>
          </a:xfrm>
        </p:grpSpPr>
        <p:sp>
          <p:nvSpPr>
            <p:cNvPr id="4" name="object 4" descr=""/>
            <p:cNvSpPr/>
            <p:nvPr/>
          </p:nvSpPr>
          <p:spPr>
            <a:xfrm>
              <a:off x="0" y="2000250"/>
              <a:ext cx="8591550" cy="781050"/>
            </a:xfrm>
            <a:custGeom>
              <a:avLst/>
              <a:gdLst/>
              <a:ahLst/>
              <a:cxnLst/>
              <a:rect l="l" t="t" r="r" b="b"/>
              <a:pathLst>
                <a:path w="8591550" h="781050">
                  <a:moveTo>
                    <a:pt x="859155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8591550" y="781050"/>
                  </a:lnTo>
                  <a:lnTo>
                    <a:pt x="85915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71636"/>
              <a:ext cx="8682101" cy="456730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2200275"/>
              <a:ext cx="8534400" cy="4267200"/>
            </a:xfrm>
            <a:custGeom>
              <a:avLst/>
              <a:gdLst/>
              <a:ahLst/>
              <a:cxnLst/>
              <a:rect l="l" t="t" r="r" b="b"/>
              <a:pathLst>
                <a:path w="8534400" h="4267200">
                  <a:moveTo>
                    <a:pt x="85344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8534400" y="4267200"/>
                  </a:lnTo>
                  <a:lnTo>
                    <a:pt x="853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51802" y="2488946"/>
            <a:ext cx="3771265" cy="37338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ct val="91400"/>
              </a:lnSpc>
              <a:spcBef>
                <a:spcPts val="204"/>
              </a:spcBef>
            </a:pPr>
            <a:r>
              <a:rPr dirty="0" sz="1050" b="1">
                <a:latin typeface="Calibri"/>
                <a:cs typeface="Calibri"/>
              </a:rPr>
              <a:t>Return</a:t>
            </a:r>
            <a:r>
              <a:rPr dirty="0" sz="1050" spc="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values</a:t>
            </a:r>
            <a:r>
              <a:rPr dirty="0" sz="1050" spc="-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are</a:t>
            </a:r>
            <a:r>
              <a:rPr dirty="0" sz="1050" spc="-3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the</a:t>
            </a:r>
            <a:r>
              <a:rPr dirty="0" sz="1050" spc="-3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output</a:t>
            </a:r>
            <a:r>
              <a:rPr dirty="0" sz="1050" spc="-2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that</a:t>
            </a:r>
            <a:r>
              <a:rPr dirty="0" sz="1050" spc="-2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a</a:t>
            </a:r>
            <a:r>
              <a:rPr dirty="0" sz="1050" spc="-2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function</a:t>
            </a:r>
            <a:r>
              <a:rPr dirty="0" sz="1050" spc="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sends</a:t>
            </a:r>
            <a:r>
              <a:rPr dirty="0" sz="1050" spc="-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back</a:t>
            </a:r>
            <a:r>
              <a:rPr dirty="0" sz="1050" spc="-1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to the</a:t>
            </a:r>
            <a:r>
              <a:rPr dirty="0" sz="1050" spc="-30" b="1">
                <a:latin typeface="Calibri"/>
                <a:cs typeface="Calibri"/>
              </a:rPr>
              <a:t> </a:t>
            </a:r>
            <a:r>
              <a:rPr dirty="0" sz="1050" spc="-20" b="1">
                <a:latin typeface="Calibri"/>
                <a:cs typeface="Calibri"/>
              </a:rPr>
              <a:t>part </a:t>
            </a:r>
            <a:r>
              <a:rPr dirty="0" sz="1050" b="1">
                <a:latin typeface="Calibri"/>
                <a:cs typeface="Calibri"/>
              </a:rPr>
              <a:t>of</a:t>
            </a:r>
            <a:r>
              <a:rPr dirty="0" sz="1050" spc="-5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the</a:t>
            </a:r>
            <a:r>
              <a:rPr dirty="0" sz="1050" spc="-1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program</a:t>
            </a:r>
            <a:r>
              <a:rPr dirty="0" sz="1050" spc="3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that</a:t>
            </a:r>
            <a:r>
              <a:rPr dirty="0" sz="1050" spc="-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called</a:t>
            </a:r>
            <a:r>
              <a:rPr dirty="0" sz="1050" spc="-5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it.</a:t>
            </a:r>
            <a:r>
              <a:rPr dirty="0" sz="1050" spc="-50" b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When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function</a:t>
            </a:r>
            <a:r>
              <a:rPr dirty="0" sz="1050" spc="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is</a:t>
            </a:r>
            <a:r>
              <a:rPr dirty="0" sz="1050" spc="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designed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to</a:t>
            </a:r>
            <a:r>
              <a:rPr dirty="0" sz="1050" spc="50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perform</a:t>
            </a:r>
            <a:r>
              <a:rPr dirty="0" sz="1050" spc="-6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calculation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or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process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data,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it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often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returns a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result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so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that </a:t>
            </a:r>
            <a:r>
              <a:rPr dirty="0" sz="1050">
                <a:latin typeface="Calibri"/>
                <a:cs typeface="Calibri"/>
              </a:rPr>
              <a:t>you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can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use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that value</a:t>
            </a:r>
            <a:r>
              <a:rPr dirty="0" sz="1050" spc="6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elsewhere</a:t>
            </a:r>
            <a:r>
              <a:rPr dirty="0" sz="1050" spc="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your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code.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  <a:spcBef>
                <a:spcPts val="5"/>
              </a:spcBef>
            </a:pPr>
            <a:r>
              <a:rPr dirty="0" sz="1050" spc="-10" b="1">
                <a:latin typeface="Calibri"/>
                <a:cs typeface="Calibri"/>
              </a:rPr>
              <a:t>Purpose: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125"/>
              </a:lnSpc>
            </a:pPr>
            <a:r>
              <a:rPr dirty="0" sz="1050">
                <a:latin typeface="Calibri"/>
                <a:cs typeface="Calibri"/>
              </a:rPr>
              <a:t>Return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values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allow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functions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produce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communicate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 </a:t>
            </a:r>
            <a:r>
              <a:rPr dirty="0" sz="1050" spc="-10">
                <a:latin typeface="Calibri"/>
                <a:cs typeface="Calibri"/>
              </a:rPr>
              <a:t>result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50">
                <a:latin typeface="Calibri"/>
                <a:cs typeface="Calibri"/>
              </a:rPr>
              <a:t>after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performing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operations.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230"/>
              </a:lnSpc>
              <a:spcBef>
                <a:spcPts val="90"/>
              </a:spcBef>
            </a:pPr>
            <a:r>
              <a:rPr dirty="0" sz="1050" b="1">
                <a:latin typeface="Calibri"/>
                <a:cs typeface="Calibri"/>
              </a:rPr>
              <a:t>Specifying</a:t>
            </a:r>
            <a:r>
              <a:rPr dirty="0" sz="1050" spc="20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Return</a:t>
            </a:r>
            <a:r>
              <a:rPr dirty="0" sz="1050" spc="-45" b="1">
                <a:latin typeface="Calibri"/>
                <a:cs typeface="Calibri"/>
              </a:rPr>
              <a:t> </a:t>
            </a:r>
            <a:r>
              <a:rPr dirty="0" sz="1050" spc="-20" b="1">
                <a:latin typeface="Calibri"/>
                <a:cs typeface="Calibri"/>
              </a:rPr>
              <a:t>Type:</a:t>
            </a:r>
            <a:endParaRPr sz="1050">
              <a:latin typeface="Calibri"/>
              <a:cs typeface="Calibri"/>
            </a:endParaRPr>
          </a:p>
          <a:p>
            <a:pPr marL="12700" marR="25400">
              <a:lnSpc>
                <a:spcPct val="894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In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Processing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(and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similar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languages),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the</a:t>
            </a:r>
            <a:r>
              <a:rPr dirty="0" sz="1050" spc="55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function's</a:t>
            </a:r>
            <a:r>
              <a:rPr dirty="0" sz="1050" spc="-6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return</a:t>
            </a:r>
            <a:r>
              <a:rPr dirty="0" sz="1050" spc="-55" b="1">
                <a:latin typeface="Calibri"/>
                <a:cs typeface="Calibri"/>
              </a:rPr>
              <a:t> </a:t>
            </a:r>
            <a:r>
              <a:rPr dirty="0" sz="1050" spc="-20" b="1">
                <a:latin typeface="Calibri"/>
                <a:cs typeface="Calibri"/>
              </a:rPr>
              <a:t>type</a:t>
            </a:r>
            <a:r>
              <a:rPr dirty="0" sz="1050" spc="50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must</a:t>
            </a:r>
            <a:r>
              <a:rPr dirty="0" sz="1050" spc="-1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be</a:t>
            </a:r>
            <a:r>
              <a:rPr dirty="0" sz="1050" spc="-2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specified</a:t>
            </a:r>
            <a:r>
              <a:rPr dirty="0" sz="1050" spc="-5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before</a:t>
            </a:r>
            <a:r>
              <a:rPr dirty="0" sz="1050" spc="-1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its</a:t>
            </a:r>
            <a:r>
              <a:rPr dirty="0" sz="1050" spc="1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name</a:t>
            </a:r>
            <a:r>
              <a:rPr dirty="0" sz="1050">
                <a:latin typeface="Calibri"/>
                <a:cs typeface="Calibri"/>
              </a:rPr>
              <a:t>.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For</a:t>
            </a:r>
            <a:r>
              <a:rPr dirty="0" sz="1050" spc="-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instance,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use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0000"/>
                </a:solidFill>
                <a:latin typeface="Calibri"/>
                <a:cs typeface="Calibri"/>
              </a:rPr>
              <a:t>int</a:t>
            </a:r>
            <a:r>
              <a:rPr dirty="0" sz="105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if</a:t>
            </a:r>
            <a:r>
              <a:rPr dirty="0" sz="1050" spc="40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the </a:t>
            </a:r>
            <a:r>
              <a:rPr dirty="0" sz="1050">
                <a:latin typeface="Calibri"/>
                <a:cs typeface="Calibri"/>
              </a:rPr>
              <a:t>function</a:t>
            </a:r>
            <a:r>
              <a:rPr dirty="0" sz="1050" spc="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returns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</a:t>
            </a:r>
            <a:r>
              <a:rPr dirty="0" sz="1050" spc="3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integer,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0000"/>
                </a:solidFill>
                <a:latin typeface="Calibri"/>
                <a:cs typeface="Calibri"/>
              </a:rPr>
              <a:t>float</a:t>
            </a:r>
            <a:r>
              <a:rPr dirty="0" sz="105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for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floating-</a:t>
            </a:r>
            <a:r>
              <a:rPr dirty="0" sz="1050">
                <a:latin typeface="Calibri"/>
                <a:cs typeface="Calibri"/>
              </a:rPr>
              <a:t>point number,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or </a:t>
            </a:r>
            <a:r>
              <a:rPr dirty="0" sz="1050" spc="-20">
                <a:solidFill>
                  <a:srgbClr val="FF0000"/>
                </a:solidFill>
                <a:latin typeface="Calibri"/>
                <a:cs typeface="Calibri"/>
              </a:rPr>
              <a:t>void </a:t>
            </a:r>
            <a:r>
              <a:rPr dirty="0" sz="1050">
                <a:latin typeface="Calibri"/>
                <a:cs typeface="Calibri"/>
              </a:rPr>
              <a:t>if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function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doesn't </a:t>
            </a:r>
            <a:r>
              <a:rPr dirty="0" sz="1050">
                <a:latin typeface="Calibri"/>
                <a:cs typeface="Calibri"/>
              </a:rPr>
              <a:t>return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anything.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230"/>
              </a:lnSpc>
              <a:spcBef>
                <a:spcPts val="90"/>
              </a:spcBef>
            </a:pPr>
            <a:r>
              <a:rPr dirty="0" sz="1050" b="1">
                <a:latin typeface="Calibri"/>
                <a:cs typeface="Calibri"/>
              </a:rPr>
              <a:t>Return</a:t>
            </a:r>
            <a:r>
              <a:rPr dirty="0" sz="1050" spc="-5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Statement: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165"/>
              </a:lnSpc>
            </a:pPr>
            <a:r>
              <a:rPr dirty="0" sz="1050">
                <a:latin typeface="Calibri"/>
                <a:cs typeface="Calibri"/>
              </a:rPr>
              <a:t>Within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function,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return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statement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is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used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send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output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50">
                <a:latin typeface="Calibri"/>
                <a:cs typeface="Calibri"/>
              </a:rPr>
              <a:t>back to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where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function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was</a:t>
            </a:r>
            <a:r>
              <a:rPr dirty="0" sz="1050" spc="-6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called.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50" b="1">
                <a:latin typeface="Calibri"/>
                <a:cs typeface="Calibri"/>
              </a:rPr>
              <a:t>Function</a:t>
            </a:r>
            <a:r>
              <a:rPr dirty="0" sz="1050" spc="-25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Definition:</a:t>
            </a:r>
            <a:endParaRPr sz="1050">
              <a:latin typeface="Calibri"/>
              <a:cs typeface="Calibri"/>
            </a:endParaRPr>
          </a:p>
          <a:p>
            <a:pPr marL="12700" marR="12065">
              <a:lnSpc>
                <a:spcPct val="89400"/>
              </a:lnSpc>
              <a:spcBef>
                <a:spcPts val="70"/>
              </a:spcBef>
            </a:pP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0000"/>
                </a:solidFill>
                <a:latin typeface="Calibri"/>
                <a:cs typeface="Calibri"/>
              </a:rPr>
              <a:t>multiply</a:t>
            </a:r>
            <a:r>
              <a:rPr dirty="0" sz="105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function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is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defined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with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</a:t>
            </a:r>
            <a:r>
              <a:rPr dirty="0" sz="1050" spc="-7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return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type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40"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0000"/>
                </a:solidFill>
                <a:latin typeface="Calibri"/>
                <a:cs typeface="Calibri"/>
              </a:rPr>
              <a:t>int</a:t>
            </a:r>
            <a:r>
              <a:rPr dirty="0" sz="1050">
                <a:latin typeface="Calibri"/>
                <a:cs typeface="Calibri"/>
              </a:rPr>
              <a:t>. It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takes</a:t>
            </a:r>
            <a:r>
              <a:rPr dirty="0" sz="1050" spc="-60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two </a:t>
            </a:r>
            <a:r>
              <a:rPr dirty="0" sz="1050">
                <a:latin typeface="Calibri"/>
                <a:cs typeface="Calibri"/>
              </a:rPr>
              <a:t>integer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parameters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(</a:t>
            </a:r>
            <a:r>
              <a:rPr dirty="0" sz="1050" b="1">
                <a:latin typeface="Calibri"/>
                <a:cs typeface="Calibri"/>
              </a:rPr>
              <a:t>a</a:t>
            </a:r>
            <a:r>
              <a:rPr dirty="0" sz="1050" spc="-2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and</a:t>
            </a:r>
            <a:r>
              <a:rPr dirty="0" sz="1050" spc="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b</a:t>
            </a:r>
            <a:r>
              <a:rPr dirty="0" sz="1050">
                <a:latin typeface="Calibri"/>
                <a:cs typeface="Calibri"/>
              </a:rPr>
              <a:t>),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calculates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their</a:t>
            </a:r>
            <a:r>
              <a:rPr dirty="0" sz="1050" spc="20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product</a:t>
            </a:r>
            <a:r>
              <a:rPr dirty="0" sz="1050">
                <a:latin typeface="Calibri"/>
                <a:cs typeface="Calibri"/>
              </a:rPr>
              <a:t>, and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returns </a:t>
            </a:r>
            <a:r>
              <a:rPr dirty="0" sz="1050">
                <a:latin typeface="Calibri"/>
                <a:cs typeface="Calibri"/>
              </a:rPr>
              <a:t>that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value.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230"/>
              </a:lnSpc>
              <a:spcBef>
                <a:spcPts val="90"/>
              </a:spcBef>
            </a:pPr>
            <a:r>
              <a:rPr dirty="0" sz="1050" b="1">
                <a:latin typeface="Calibri"/>
                <a:cs typeface="Calibri"/>
              </a:rPr>
              <a:t>Using</a:t>
            </a:r>
            <a:r>
              <a:rPr dirty="0" sz="1050" spc="-1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the</a:t>
            </a:r>
            <a:r>
              <a:rPr dirty="0" sz="1050" spc="-3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Return </a:t>
            </a:r>
            <a:r>
              <a:rPr dirty="0" sz="1050" spc="-10" b="1">
                <a:latin typeface="Calibri"/>
                <a:cs typeface="Calibri"/>
              </a:rPr>
              <a:t>Value: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165"/>
              </a:lnSpc>
            </a:pPr>
            <a:r>
              <a:rPr dirty="0" sz="1050">
                <a:latin typeface="Calibri"/>
                <a:cs typeface="Calibri"/>
              </a:rPr>
              <a:t>In</a:t>
            </a:r>
            <a:r>
              <a:rPr dirty="0" sz="1050" spc="-6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0000"/>
                </a:solidFill>
                <a:latin typeface="Calibri"/>
                <a:cs typeface="Calibri"/>
              </a:rPr>
              <a:t>setup()</a:t>
            </a:r>
            <a:r>
              <a:rPr dirty="0" sz="105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function,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result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calling</a:t>
            </a:r>
            <a:r>
              <a:rPr dirty="0" sz="1050" spc="25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multiply(4,</a:t>
            </a:r>
            <a:r>
              <a:rPr dirty="0" sz="1050" spc="-10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5)</a:t>
            </a:r>
            <a:r>
              <a:rPr dirty="0" sz="1050" spc="-25" b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is stored</a:t>
            </a:r>
            <a:r>
              <a:rPr dirty="0" sz="1050" spc="10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in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</a:pP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variable </a:t>
            </a:r>
            <a:r>
              <a:rPr dirty="0" sz="1050" b="1">
                <a:latin typeface="Calibri"/>
                <a:cs typeface="Calibri"/>
              </a:rPr>
              <a:t>result</a:t>
            </a:r>
            <a:r>
              <a:rPr dirty="0" sz="1050" spc="-45" b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then</a:t>
            </a:r>
            <a:r>
              <a:rPr dirty="0" sz="1050" spc="-5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printed</a:t>
            </a:r>
            <a:r>
              <a:rPr dirty="0" sz="1050" spc="5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out.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429125" y="2000250"/>
            <a:ext cx="4343400" cy="3429000"/>
            <a:chOff x="4429125" y="2000250"/>
            <a:chExt cx="4343400" cy="34290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9125" y="3257550"/>
              <a:ext cx="3867150" cy="217170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658225" y="2000250"/>
              <a:ext cx="114300" cy="781050"/>
            </a:xfrm>
            <a:custGeom>
              <a:avLst/>
              <a:gdLst/>
              <a:ahLst/>
              <a:cxnLst/>
              <a:rect l="l" t="t" r="r" b="b"/>
              <a:pathLst>
                <a:path w="114300" h="781050">
                  <a:moveTo>
                    <a:pt x="11430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114300" y="7810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296" rIns="0" bIns="0" rtlCol="0" vert="horz">
            <a:spAutoFit/>
          </a:bodyPr>
          <a:lstStyle/>
          <a:p>
            <a:pPr marL="1123950">
              <a:lnSpc>
                <a:spcPct val="100000"/>
              </a:lnSpc>
              <a:spcBef>
                <a:spcPts val="105"/>
              </a:spcBef>
            </a:pPr>
            <a:r>
              <a:rPr dirty="0" sz="4200"/>
              <a:t>Functions</a:t>
            </a:r>
            <a:r>
              <a:rPr dirty="0" sz="4200" spc="-55"/>
              <a:t> </a:t>
            </a:r>
            <a:r>
              <a:rPr dirty="0" sz="4200"/>
              <a:t>-</a:t>
            </a:r>
            <a:r>
              <a:rPr dirty="0" sz="4200" spc="-55"/>
              <a:t> </a:t>
            </a:r>
            <a:r>
              <a:rPr dirty="0" sz="4200" spc="-10"/>
              <a:t>recursiveness</a:t>
            </a:r>
            <a:endParaRPr sz="4200"/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000250"/>
            <a:ext cx="8682355" cy="4739005"/>
            <a:chOff x="0" y="2000250"/>
            <a:chExt cx="8682355" cy="4739005"/>
          </a:xfrm>
        </p:grpSpPr>
        <p:sp>
          <p:nvSpPr>
            <p:cNvPr id="4" name="object 4" descr=""/>
            <p:cNvSpPr/>
            <p:nvPr/>
          </p:nvSpPr>
          <p:spPr>
            <a:xfrm>
              <a:off x="0" y="2000250"/>
              <a:ext cx="8591550" cy="781050"/>
            </a:xfrm>
            <a:custGeom>
              <a:avLst/>
              <a:gdLst/>
              <a:ahLst/>
              <a:cxnLst/>
              <a:rect l="l" t="t" r="r" b="b"/>
              <a:pathLst>
                <a:path w="8591550" h="781050">
                  <a:moveTo>
                    <a:pt x="859155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8591550" y="781050"/>
                  </a:lnTo>
                  <a:lnTo>
                    <a:pt x="85915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71636"/>
              <a:ext cx="8682101" cy="456730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2200275"/>
              <a:ext cx="8534400" cy="4267200"/>
            </a:xfrm>
            <a:custGeom>
              <a:avLst/>
              <a:gdLst/>
              <a:ahLst/>
              <a:cxnLst/>
              <a:rect l="l" t="t" r="r" b="b"/>
              <a:pathLst>
                <a:path w="8534400" h="4267200">
                  <a:moveTo>
                    <a:pt x="85344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8534400" y="4267200"/>
                  </a:lnTo>
                  <a:lnTo>
                    <a:pt x="853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0" y="3467100"/>
              <a:ext cx="3867150" cy="18288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260"/>
              </a:lnSpc>
              <a:spcBef>
                <a:spcPts val="125"/>
              </a:spcBef>
            </a:pPr>
            <a:r>
              <a:rPr dirty="0"/>
              <a:t>Imagine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/>
              <a:t>function</a:t>
            </a:r>
            <a:r>
              <a:rPr dirty="0" spc="-35"/>
              <a:t> </a:t>
            </a:r>
            <a:r>
              <a:rPr dirty="0" spc="-10"/>
              <a:t>saying:</a:t>
            </a:r>
          </a:p>
          <a:p>
            <a:pPr marL="12700">
              <a:lnSpc>
                <a:spcPts val="1200"/>
              </a:lnSpc>
            </a:pPr>
            <a:r>
              <a:rPr dirty="0" b="1" i="1">
                <a:latin typeface="Calibri"/>
                <a:cs typeface="Calibri"/>
              </a:rPr>
              <a:t>"I</a:t>
            </a:r>
            <a:r>
              <a:rPr dirty="0" spc="-35" b="1" i="1">
                <a:latin typeface="Calibri"/>
                <a:cs typeface="Calibri"/>
              </a:rPr>
              <a:t> </a:t>
            </a:r>
            <a:r>
              <a:rPr dirty="0" b="1" i="1">
                <a:latin typeface="Calibri"/>
                <a:cs typeface="Calibri"/>
              </a:rPr>
              <a:t>call</a:t>
            </a:r>
            <a:r>
              <a:rPr dirty="0" spc="-15" b="1" i="1">
                <a:latin typeface="Calibri"/>
                <a:cs typeface="Calibri"/>
              </a:rPr>
              <a:t> </a:t>
            </a:r>
            <a:r>
              <a:rPr dirty="0" b="1" i="1">
                <a:latin typeface="Calibri"/>
                <a:cs typeface="Calibri"/>
              </a:rPr>
              <a:t>myself</a:t>
            </a:r>
            <a:r>
              <a:rPr dirty="0" spc="-25" b="1" i="1">
                <a:latin typeface="Calibri"/>
                <a:cs typeface="Calibri"/>
              </a:rPr>
              <a:t> </a:t>
            </a:r>
            <a:r>
              <a:rPr dirty="0" b="1" i="1">
                <a:latin typeface="Calibri"/>
                <a:cs typeface="Calibri"/>
              </a:rPr>
              <a:t>because</a:t>
            </a:r>
            <a:r>
              <a:rPr dirty="0" spc="10" b="1" i="1">
                <a:latin typeface="Calibri"/>
                <a:cs typeface="Calibri"/>
              </a:rPr>
              <a:t> </a:t>
            </a:r>
            <a:r>
              <a:rPr dirty="0" b="1" i="1">
                <a:latin typeface="Calibri"/>
                <a:cs typeface="Calibri"/>
              </a:rPr>
              <a:t>I'm</a:t>
            </a:r>
            <a:r>
              <a:rPr dirty="0" spc="-40" b="1" i="1">
                <a:latin typeface="Calibri"/>
                <a:cs typeface="Calibri"/>
              </a:rPr>
              <a:t> </a:t>
            </a:r>
            <a:r>
              <a:rPr dirty="0" b="1" i="1">
                <a:latin typeface="Calibri"/>
                <a:cs typeface="Calibri"/>
              </a:rPr>
              <a:t>awesome—and</a:t>
            </a:r>
            <a:r>
              <a:rPr dirty="0" spc="-30" b="1" i="1">
                <a:latin typeface="Calibri"/>
                <a:cs typeface="Calibri"/>
              </a:rPr>
              <a:t> </a:t>
            </a:r>
            <a:r>
              <a:rPr dirty="0" b="1" i="1">
                <a:latin typeface="Calibri"/>
                <a:cs typeface="Calibri"/>
              </a:rPr>
              <a:t>because</a:t>
            </a:r>
            <a:r>
              <a:rPr dirty="0" spc="10" b="1" i="1">
                <a:latin typeface="Calibri"/>
                <a:cs typeface="Calibri"/>
              </a:rPr>
              <a:t> </a:t>
            </a:r>
            <a:r>
              <a:rPr dirty="0" b="1" i="1">
                <a:latin typeface="Calibri"/>
                <a:cs typeface="Calibri"/>
              </a:rPr>
              <a:t>I</a:t>
            </a:r>
            <a:r>
              <a:rPr dirty="0" spc="-35" b="1" i="1">
                <a:latin typeface="Calibri"/>
                <a:cs typeface="Calibri"/>
              </a:rPr>
              <a:t> </a:t>
            </a:r>
            <a:r>
              <a:rPr dirty="0" b="1" i="1">
                <a:latin typeface="Calibri"/>
                <a:cs typeface="Calibri"/>
              </a:rPr>
              <a:t>just</a:t>
            </a:r>
            <a:r>
              <a:rPr dirty="0" spc="20" b="1" i="1">
                <a:latin typeface="Calibri"/>
                <a:cs typeface="Calibri"/>
              </a:rPr>
              <a:t> </a:t>
            </a:r>
            <a:r>
              <a:rPr dirty="0" b="1" i="1">
                <a:latin typeface="Calibri"/>
                <a:cs typeface="Calibri"/>
              </a:rPr>
              <a:t>can't</a:t>
            </a:r>
            <a:r>
              <a:rPr dirty="0" spc="-50" b="1" i="1">
                <a:latin typeface="Calibri"/>
                <a:cs typeface="Calibri"/>
              </a:rPr>
              <a:t> </a:t>
            </a:r>
            <a:r>
              <a:rPr dirty="0" spc="-20" b="1" i="1">
                <a:latin typeface="Calibri"/>
                <a:cs typeface="Calibri"/>
              </a:rPr>
              <a:t>stop</a:t>
            </a:r>
          </a:p>
          <a:p>
            <a:pPr marL="12700">
              <a:lnSpc>
                <a:spcPts val="1260"/>
              </a:lnSpc>
            </a:pPr>
            <a:r>
              <a:rPr dirty="0" b="1" i="1">
                <a:latin typeface="Calibri"/>
                <a:cs typeface="Calibri"/>
              </a:rPr>
              <a:t>calling</a:t>
            </a:r>
            <a:r>
              <a:rPr dirty="0" spc="-55" b="1" i="1">
                <a:latin typeface="Calibri"/>
                <a:cs typeface="Calibri"/>
              </a:rPr>
              <a:t> </a:t>
            </a:r>
            <a:r>
              <a:rPr dirty="0" spc="-10" b="1" i="1">
                <a:latin typeface="Calibri"/>
                <a:cs typeface="Calibri"/>
              </a:rPr>
              <a:t>myself!”</a:t>
            </a:r>
          </a:p>
          <a:p>
            <a:pPr>
              <a:lnSpc>
                <a:spcPct val="100000"/>
              </a:lnSpc>
              <a:spcBef>
                <a:spcPts val="330"/>
              </a:spcBef>
            </a:pPr>
          </a:p>
          <a:p>
            <a:pPr marL="12700" marR="29209">
              <a:lnSpc>
                <a:spcPts val="1200"/>
              </a:lnSpc>
            </a:pPr>
            <a:r>
              <a:rPr dirty="0"/>
              <a:t>Recursion</a:t>
            </a:r>
            <a:r>
              <a:rPr dirty="0" spc="-20"/>
              <a:t> </a:t>
            </a:r>
            <a:r>
              <a:rPr dirty="0"/>
              <a:t>can</a:t>
            </a:r>
            <a:r>
              <a:rPr dirty="0" spc="-15"/>
              <a:t> </a:t>
            </a:r>
            <a:r>
              <a:rPr dirty="0"/>
              <a:t>be</a:t>
            </a:r>
            <a:r>
              <a:rPr dirty="0" spc="15"/>
              <a:t> </a:t>
            </a:r>
            <a:r>
              <a:rPr dirty="0" spc="-10"/>
              <a:t>understood</a:t>
            </a:r>
            <a:r>
              <a:rPr dirty="0" spc="-15"/>
              <a:t> </a:t>
            </a:r>
            <a:r>
              <a:rPr dirty="0"/>
              <a:t>as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/>
              <a:t>process</a:t>
            </a:r>
            <a:r>
              <a:rPr dirty="0" spc="5"/>
              <a:t> </a:t>
            </a:r>
            <a:r>
              <a:rPr dirty="0" b="1">
                <a:latin typeface="Calibri"/>
                <a:cs typeface="Calibri"/>
              </a:rPr>
              <a:t>where</a:t>
            </a:r>
            <a:r>
              <a:rPr dirty="0" spc="1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</a:t>
            </a:r>
            <a:r>
              <a:rPr dirty="0" spc="2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function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solves </a:t>
            </a:r>
            <a:r>
              <a:rPr dirty="0" b="1">
                <a:latin typeface="Calibri"/>
                <a:cs typeface="Calibri"/>
              </a:rPr>
              <a:t>a</a:t>
            </a:r>
            <a:r>
              <a:rPr dirty="0" spc="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problem</a:t>
            </a:r>
            <a:r>
              <a:rPr dirty="0" spc="2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by</a:t>
            </a:r>
            <a:r>
              <a:rPr dirty="0" spc="30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calling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itself</a:t>
            </a:r>
            <a:r>
              <a:rPr dirty="0" spc="-2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with</a:t>
            </a:r>
            <a:r>
              <a:rPr dirty="0" spc="-3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simpler</a:t>
            </a:r>
            <a:r>
              <a:rPr dirty="0" spc="1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or</a:t>
            </a:r>
            <a:r>
              <a:rPr dirty="0" spc="-5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smaller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pieces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of</a:t>
            </a:r>
            <a:r>
              <a:rPr dirty="0" spc="-15" b="1">
                <a:latin typeface="Calibri"/>
                <a:cs typeface="Calibri"/>
              </a:rPr>
              <a:t> </a:t>
            </a:r>
            <a:r>
              <a:rPr dirty="0" spc="-25" b="1">
                <a:latin typeface="Calibri"/>
                <a:cs typeface="Calibri"/>
              </a:rPr>
              <a:t>the </a:t>
            </a:r>
            <a:r>
              <a:rPr dirty="0" b="1">
                <a:latin typeface="Calibri"/>
                <a:cs typeface="Calibri"/>
              </a:rPr>
              <a:t>problem</a:t>
            </a:r>
            <a:r>
              <a:rPr dirty="0" spc="-7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until</a:t>
            </a:r>
            <a:r>
              <a:rPr dirty="0" spc="-2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it</a:t>
            </a:r>
            <a:r>
              <a:rPr dirty="0" spc="2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reaches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simple</a:t>
            </a:r>
            <a:r>
              <a:rPr dirty="0" spc="-1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case</a:t>
            </a:r>
            <a:r>
              <a:rPr dirty="0" spc="-1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it</a:t>
            </a:r>
            <a:r>
              <a:rPr dirty="0" spc="-5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can</a:t>
            </a:r>
            <a:r>
              <a:rPr dirty="0" spc="3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solve</a:t>
            </a:r>
            <a:r>
              <a:rPr dirty="0" spc="-10" b="1">
                <a:latin typeface="Calibri"/>
                <a:cs typeface="Calibri"/>
              </a:rPr>
              <a:t> immediately</a:t>
            </a:r>
            <a:r>
              <a:rPr dirty="0" spc="-10"/>
              <a:t>.</a:t>
            </a:r>
          </a:p>
          <a:p>
            <a:pPr marL="12700" marR="215900">
              <a:lnSpc>
                <a:spcPct val="91000"/>
              </a:lnSpc>
              <a:spcBef>
                <a:spcPts val="210"/>
              </a:spcBef>
            </a:pPr>
            <a:r>
              <a:rPr dirty="0"/>
              <a:t>Think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it</a:t>
            </a:r>
            <a:r>
              <a:rPr dirty="0" spc="-20"/>
              <a:t> </a:t>
            </a:r>
            <a:r>
              <a:rPr dirty="0"/>
              <a:t>like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set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15"/>
              <a:t> </a:t>
            </a:r>
            <a:r>
              <a:rPr dirty="0"/>
              <a:t>nested</a:t>
            </a:r>
            <a:r>
              <a:rPr dirty="0" spc="-10"/>
              <a:t> Russian</a:t>
            </a:r>
            <a:r>
              <a:rPr dirty="0" spc="-15"/>
              <a:t> </a:t>
            </a:r>
            <a:r>
              <a:rPr dirty="0"/>
              <a:t>dolls:</a:t>
            </a:r>
            <a:r>
              <a:rPr dirty="0" spc="-15"/>
              <a:t> </a:t>
            </a:r>
            <a:r>
              <a:rPr dirty="0"/>
              <a:t>each</a:t>
            </a:r>
            <a:r>
              <a:rPr dirty="0" spc="-15"/>
              <a:t> </a:t>
            </a:r>
            <a:r>
              <a:rPr dirty="0"/>
              <a:t>doll</a:t>
            </a:r>
            <a:r>
              <a:rPr dirty="0" spc="25"/>
              <a:t> </a:t>
            </a:r>
            <a:r>
              <a:rPr dirty="0" spc="-10"/>
              <a:t>contains </a:t>
            </a:r>
            <a:r>
              <a:rPr dirty="0" spc="-50"/>
              <a:t>a</a:t>
            </a:r>
            <a:r>
              <a:rPr dirty="0"/>
              <a:t> smaller</a:t>
            </a:r>
            <a:r>
              <a:rPr dirty="0" spc="-5"/>
              <a:t> </a:t>
            </a:r>
            <a:r>
              <a:rPr dirty="0"/>
              <a:t>one</a:t>
            </a:r>
            <a:r>
              <a:rPr dirty="0" spc="-10"/>
              <a:t> </a:t>
            </a:r>
            <a:r>
              <a:rPr dirty="0"/>
              <a:t>until</a:t>
            </a:r>
            <a:r>
              <a:rPr dirty="0" spc="-5"/>
              <a:t> </a:t>
            </a:r>
            <a:r>
              <a:rPr dirty="0"/>
              <a:t>you</a:t>
            </a:r>
            <a:r>
              <a:rPr dirty="0" spc="-40"/>
              <a:t> </a:t>
            </a:r>
            <a:r>
              <a:rPr dirty="0"/>
              <a:t>reach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tiniest</a:t>
            </a:r>
            <a:r>
              <a:rPr dirty="0" spc="25"/>
              <a:t> </a:t>
            </a:r>
            <a:r>
              <a:rPr dirty="0"/>
              <a:t>doll</a:t>
            </a:r>
            <a:r>
              <a:rPr dirty="0" spc="-5"/>
              <a:t> </a:t>
            </a:r>
            <a:r>
              <a:rPr dirty="0"/>
              <a:t>that</a:t>
            </a:r>
            <a:r>
              <a:rPr dirty="0" spc="20"/>
              <a:t> </a:t>
            </a:r>
            <a:r>
              <a:rPr dirty="0" spc="-10"/>
              <a:t>doesn’t</a:t>
            </a:r>
            <a:r>
              <a:rPr dirty="0" spc="-45"/>
              <a:t> </a:t>
            </a:r>
            <a:r>
              <a:rPr dirty="0" spc="-20"/>
              <a:t>open </a:t>
            </a:r>
            <a:r>
              <a:rPr dirty="0" spc="-10"/>
              <a:t>further.</a:t>
            </a:r>
          </a:p>
          <a:p>
            <a:pPr>
              <a:lnSpc>
                <a:spcPct val="100000"/>
              </a:lnSpc>
              <a:spcBef>
                <a:spcPts val="425"/>
              </a:spcBef>
            </a:pPr>
          </a:p>
          <a:p>
            <a:pPr marL="12700" marR="180975">
              <a:lnSpc>
                <a:spcPct val="88200"/>
              </a:lnSpc>
            </a:pPr>
            <a:r>
              <a:rPr dirty="0"/>
              <a:t>Imagine</a:t>
            </a:r>
            <a:r>
              <a:rPr dirty="0" spc="-5"/>
              <a:t> </a:t>
            </a:r>
            <a:r>
              <a:rPr dirty="0"/>
              <a:t>you</a:t>
            </a:r>
            <a:r>
              <a:rPr dirty="0" spc="-35"/>
              <a:t> </a:t>
            </a:r>
            <a:r>
              <a:rPr dirty="0"/>
              <a:t>want</a:t>
            </a:r>
            <a:r>
              <a:rPr dirty="0" spc="25"/>
              <a:t> </a:t>
            </a:r>
            <a:r>
              <a:rPr dirty="0" spc="-10"/>
              <a:t>to</a:t>
            </a:r>
            <a:r>
              <a:rPr dirty="0" spc="-35"/>
              <a:t> </a:t>
            </a:r>
            <a:r>
              <a:rPr dirty="0"/>
              <a:t>count</a:t>
            </a:r>
            <a:r>
              <a:rPr dirty="0" spc="-45"/>
              <a:t> </a:t>
            </a:r>
            <a:r>
              <a:rPr dirty="0"/>
              <a:t>down</a:t>
            </a:r>
            <a:r>
              <a:rPr dirty="0" spc="-35"/>
              <a:t> </a:t>
            </a:r>
            <a:r>
              <a:rPr dirty="0"/>
              <a:t>from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/>
              <a:t>number</a:t>
            </a:r>
            <a:r>
              <a:rPr dirty="0" spc="10"/>
              <a:t> </a:t>
            </a:r>
            <a:r>
              <a:rPr dirty="0"/>
              <a:t>until</a:t>
            </a:r>
            <a:r>
              <a:rPr dirty="0" spc="-5"/>
              <a:t> </a:t>
            </a:r>
            <a:r>
              <a:rPr dirty="0"/>
              <a:t>you</a:t>
            </a:r>
            <a:r>
              <a:rPr dirty="0" spc="-35"/>
              <a:t> </a:t>
            </a:r>
            <a:r>
              <a:rPr dirty="0" spc="-10"/>
              <a:t>reach </a:t>
            </a:r>
            <a:r>
              <a:rPr dirty="0"/>
              <a:t>zero.</a:t>
            </a:r>
            <a:r>
              <a:rPr dirty="0" spc="-20"/>
              <a:t> </a:t>
            </a:r>
            <a:r>
              <a:rPr dirty="0"/>
              <a:t>Instead</a:t>
            </a:r>
            <a:r>
              <a:rPr dirty="0" spc="-25"/>
              <a:t> </a:t>
            </a:r>
            <a:r>
              <a:rPr dirty="0"/>
              <a:t>of writing</a:t>
            </a:r>
            <a:r>
              <a:rPr dirty="0" spc="-40"/>
              <a:t> </a:t>
            </a:r>
            <a:r>
              <a:rPr dirty="0"/>
              <a:t>out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10"/>
              <a:t>loop</a:t>
            </a:r>
            <a:r>
              <a:rPr dirty="0" spc="-25"/>
              <a:t> </a:t>
            </a:r>
            <a:r>
              <a:rPr dirty="0"/>
              <a:t>manually,</a:t>
            </a:r>
            <a:r>
              <a:rPr dirty="0" spc="-15"/>
              <a:t> </a:t>
            </a:r>
            <a:r>
              <a:rPr dirty="0"/>
              <a:t>you</a:t>
            </a:r>
            <a:r>
              <a:rPr dirty="0" spc="-25"/>
              <a:t> </a:t>
            </a:r>
            <a:r>
              <a:rPr dirty="0"/>
              <a:t>can</a:t>
            </a:r>
            <a:r>
              <a:rPr dirty="0" spc="-25"/>
              <a:t> </a:t>
            </a:r>
            <a:r>
              <a:rPr dirty="0"/>
              <a:t>have </a:t>
            </a:r>
            <a:r>
              <a:rPr dirty="0" spc="-50"/>
              <a:t>a</a:t>
            </a:r>
            <a:r>
              <a:rPr dirty="0"/>
              <a:t> function</a:t>
            </a:r>
            <a:r>
              <a:rPr dirty="0" spc="-15"/>
              <a:t> </a:t>
            </a:r>
            <a:r>
              <a:rPr dirty="0"/>
              <a:t>call</a:t>
            </a:r>
            <a:r>
              <a:rPr dirty="0" spc="20"/>
              <a:t> </a:t>
            </a:r>
            <a:r>
              <a:rPr dirty="0"/>
              <a:t>itself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handle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10"/>
              <a:t>countdown.</a:t>
            </a:r>
          </a:p>
          <a:p>
            <a:pPr marL="12700">
              <a:lnSpc>
                <a:spcPts val="1260"/>
              </a:lnSpc>
              <a:spcBef>
                <a:spcPts val="180"/>
              </a:spcBef>
            </a:pPr>
            <a:r>
              <a:rPr dirty="0" b="1">
                <a:latin typeface="Calibri"/>
                <a:cs typeface="Calibri"/>
              </a:rPr>
              <a:t>Base</a:t>
            </a:r>
            <a:r>
              <a:rPr dirty="0" spc="-20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Case:</a:t>
            </a:r>
          </a:p>
          <a:p>
            <a:pPr marL="12700" marR="211454">
              <a:lnSpc>
                <a:spcPts val="1200"/>
              </a:lnSpc>
              <a:spcBef>
                <a:spcPts val="80"/>
              </a:spcBef>
            </a:pPr>
            <a:r>
              <a:rPr dirty="0"/>
              <a:t>The</a:t>
            </a:r>
            <a:r>
              <a:rPr dirty="0" spc="5"/>
              <a:t> </a:t>
            </a:r>
            <a:r>
              <a:rPr dirty="0"/>
              <a:t>condition</a:t>
            </a:r>
            <a:r>
              <a:rPr dirty="0" spc="-20"/>
              <a:t> </a:t>
            </a:r>
            <a:r>
              <a:rPr dirty="0" b="1">
                <a:latin typeface="Calibri"/>
                <a:cs typeface="Calibri"/>
              </a:rPr>
              <a:t>if</a:t>
            </a:r>
            <a:r>
              <a:rPr dirty="0" spc="-1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(n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&lt;=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0)</a:t>
            </a:r>
            <a:r>
              <a:rPr dirty="0" spc="-20" b="1">
                <a:latin typeface="Calibri"/>
                <a:cs typeface="Calibri"/>
              </a:rPr>
              <a:t> </a:t>
            </a:r>
            <a:r>
              <a:rPr dirty="0"/>
              <a:t>stops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/>
              <a:t>recursion.</a:t>
            </a:r>
            <a:r>
              <a:rPr dirty="0" spc="-10"/>
              <a:t> </a:t>
            </a:r>
            <a:r>
              <a:rPr dirty="0"/>
              <a:t>When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10"/>
              <a:t>function </a:t>
            </a:r>
            <a:r>
              <a:rPr dirty="0"/>
              <a:t>reaches</a:t>
            </a:r>
            <a:r>
              <a:rPr dirty="0" spc="-20"/>
              <a:t> </a:t>
            </a:r>
            <a:r>
              <a:rPr dirty="0"/>
              <a:t>0</a:t>
            </a:r>
            <a:r>
              <a:rPr dirty="0" spc="5"/>
              <a:t> </a:t>
            </a:r>
            <a:r>
              <a:rPr dirty="0"/>
              <a:t>or</a:t>
            </a:r>
            <a:r>
              <a:rPr dirty="0" spc="35"/>
              <a:t> </a:t>
            </a:r>
            <a:r>
              <a:rPr dirty="0"/>
              <a:t>less,</a:t>
            </a:r>
            <a:r>
              <a:rPr dirty="0" spc="-10"/>
              <a:t> </a:t>
            </a:r>
            <a:r>
              <a:rPr dirty="0"/>
              <a:t>it</a:t>
            </a:r>
            <a:r>
              <a:rPr dirty="0" spc="-25"/>
              <a:t> </a:t>
            </a:r>
            <a:r>
              <a:rPr dirty="0"/>
              <a:t>prints</a:t>
            </a:r>
            <a:r>
              <a:rPr dirty="0" spc="-15"/>
              <a:t> </a:t>
            </a:r>
            <a:r>
              <a:rPr dirty="0" spc="-10"/>
              <a:t>"Done!"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stops</a:t>
            </a:r>
            <a:r>
              <a:rPr dirty="0" spc="-20"/>
              <a:t> </a:t>
            </a:r>
            <a:r>
              <a:rPr dirty="0"/>
              <a:t>calling</a:t>
            </a:r>
            <a:r>
              <a:rPr dirty="0" spc="-25"/>
              <a:t> </a:t>
            </a:r>
            <a:r>
              <a:rPr dirty="0" spc="-10"/>
              <a:t>itself.</a:t>
            </a:r>
          </a:p>
          <a:p>
            <a:pPr marL="12700">
              <a:lnSpc>
                <a:spcPts val="1260"/>
              </a:lnSpc>
              <a:spcBef>
                <a:spcPts val="90"/>
              </a:spcBef>
            </a:pPr>
            <a:r>
              <a:rPr dirty="0" b="1">
                <a:latin typeface="Calibri"/>
                <a:cs typeface="Calibri"/>
              </a:rPr>
              <a:t>Recursive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spc="-20" b="1">
                <a:latin typeface="Calibri"/>
                <a:cs typeface="Calibri"/>
              </a:rPr>
              <a:t>Call:</a:t>
            </a:r>
          </a:p>
          <a:p>
            <a:pPr marL="12700" marR="37465">
              <a:lnSpc>
                <a:spcPct val="88300"/>
              </a:lnSpc>
              <a:spcBef>
                <a:spcPts val="95"/>
              </a:spcBef>
            </a:pPr>
            <a:r>
              <a:rPr dirty="0"/>
              <a:t>If n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/>
              <a:t>greater</a:t>
            </a:r>
            <a:r>
              <a:rPr dirty="0" spc="30"/>
              <a:t> </a:t>
            </a:r>
            <a:r>
              <a:rPr dirty="0"/>
              <a:t>than</a:t>
            </a:r>
            <a:r>
              <a:rPr dirty="0" spc="-25"/>
              <a:t> </a:t>
            </a:r>
            <a:r>
              <a:rPr dirty="0"/>
              <a:t>0,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/>
              <a:t>function</a:t>
            </a:r>
            <a:r>
              <a:rPr dirty="0" spc="-20"/>
              <a:t> </a:t>
            </a:r>
            <a:r>
              <a:rPr dirty="0"/>
              <a:t>prints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10"/>
              <a:t>number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then</a:t>
            </a:r>
            <a:r>
              <a:rPr dirty="0" spc="-25"/>
              <a:t> </a:t>
            </a:r>
            <a:r>
              <a:rPr dirty="0" spc="-10"/>
              <a:t>calls </a:t>
            </a:r>
            <a:r>
              <a:rPr dirty="0"/>
              <a:t>itself</a:t>
            </a:r>
            <a:r>
              <a:rPr dirty="0" spc="-70"/>
              <a:t> </a:t>
            </a:r>
            <a:r>
              <a:rPr dirty="0"/>
              <a:t>with</a:t>
            </a:r>
            <a:r>
              <a:rPr dirty="0" spc="-25"/>
              <a:t> </a:t>
            </a:r>
            <a:r>
              <a:rPr dirty="0"/>
              <a:t>n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1.</a:t>
            </a:r>
            <a:r>
              <a:rPr dirty="0" spc="-10"/>
              <a:t> </a:t>
            </a:r>
            <a:r>
              <a:rPr dirty="0"/>
              <a:t>This</a:t>
            </a:r>
            <a:r>
              <a:rPr dirty="0" spc="-25"/>
              <a:t> </a:t>
            </a:r>
            <a:r>
              <a:rPr dirty="0"/>
              <a:t>gradually</a:t>
            </a:r>
            <a:r>
              <a:rPr dirty="0" spc="-15"/>
              <a:t> </a:t>
            </a:r>
            <a:r>
              <a:rPr dirty="0"/>
              <a:t>reduces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number</a:t>
            </a:r>
            <a:r>
              <a:rPr dirty="0" spc="25"/>
              <a:t> </a:t>
            </a:r>
            <a:r>
              <a:rPr dirty="0"/>
              <a:t>until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20"/>
              <a:t>base </a:t>
            </a:r>
            <a:r>
              <a:rPr dirty="0"/>
              <a:t>case</a:t>
            </a:r>
            <a:r>
              <a:rPr dirty="0" spc="5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 spc="-20"/>
              <a:t>met.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8658225" y="2000250"/>
            <a:ext cx="114300" cy="781050"/>
          </a:xfrm>
          <a:custGeom>
            <a:avLst/>
            <a:gdLst/>
            <a:ahLst/>
            <a:cxnLst/>
            <a:rect l="l" t="t" r="r" b="b"/>
            <a:pathLst>
              <a:path w="114300" h="781050">
                <a:moveTo>
                  <a:pt x="114300" y="0"/>
                </a:moveTo>
                <a:lnTo>
                  <a:pt x="0" y="0"/>
                </a:lnTo>
                <a:lnTo>
                  <a:pt x="0" y="781050"/>
                </a:lnTo>
                <a:lnTo>
                  <a:pt x="114300" y="781050"/>
                </a:lnTo>
                <a:lnTo>
                  <a:pt x="1143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8459" rIns="0" bIns="0" rtlCol="0" vert="horz">
            <a:spAutoFit/>
          </a:bodyPr>
          <a:lstStyle/>
          <a:p>
            <a:pPr marL="157480">
              <a:lnSpc>
                <a:spcPct val="100000"/>
              </a:lnSpc>
              <a:spcBef>
                <a:spcPts val="130"/>
              </a:spcBef>
            </a:pPr>
            <a:r>
              <a:rPr dirty="0"/>
              <a:t>Loops</a:t>
            </a:r>
            <a:r>
              <a:rPr dirty="0" spc="-50"/>
              <a:t> </a:t>
            </a:r>
            <a:r>
              <a:rPr dirty="0"/>
              <a:t>vs</a:t>
            </a:r>
            <a:r>
              <a:rPr dirty="0" spc="-45"/>
              <a:t> </a:t>
            </a:r>
            <a:r>
              <a:rPr dirty="0" spc="-10"/>
              <a:t>Recursion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0" y="1085850"/>
            <a:ext cx="66675" cy="666750"/>
          </a:xfrm>
          <a:custGeom>
            <a:avLst/>
            <a:gdLst/>
            <a:ahLst/>
            <a:cxnLst/>
            <a:rect l="l" t="t" r="r" b="b"/>
            <a:pathLst>
              <a:path w="66675" h="666750">
                <a:moveTo>
                  <a:pt x="66675" y="0"/>
                </a:moveTo>
                <a:lnTo>
                  <a:pt x="0" y="0"/>
                </a:lnTo>
                <a:lnTo>
                  <a:pt x="0" y="666750"/>
                </a:lnTo>
                <a:lnTo>
                  <a:pt x="66675" y="666750"/>
                </a:lnTo>
                <a:lnTo>
                  <a:pt x="666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23825" y="1085850"/>
            <a:ext cx="142875" cy="666750"/>
          </a:xfrm>
          <a:custGeom>
            <a:avLst/>
            <a:gdLst/>
            <a:ahLst/>
            <a:cxnLst/>
            <a:rect l="l" t="t" r="r" b="b"/>
            <a:pathLst>
              <a:path w="142875" h="666750">
                <a:moveTo>
                  <a:pt x="142875" y="0"/>
                </a:moveTo>
                <a:lnTo>
                  <a:pt x="0" y="0"/>
                </a:lnTo>
                <a:lnTo>
                  <a:pt x="0" y="666750"/>
                </a:lnTo>
                <a:lnTo>
                  <a:pt x="142875" y="666750"/>
                </a:lnTo>
                <a:lnTo>
                  <a:pt x="142875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95300" y="2124075"/>
            <a:ext cx="3733800" cy="28575"/>
          </a:xfrm>
          <a:custGeom>
            <a:avLst/>
            <a:gdLst/>
            <a:ahLst/>
            <a:cxnLst/>
            <a:rect l="l" t="t" r="r" b="b"/>
            <a:pathLst>
              <a:path w="3733800" h="28575">
                <a:moveTo>
                  <a:pt x="3733800" y="0"/>
                </a:moveTo>
                <a:lnTo>
                  <a:pt x="0" y="0"/>
                </a:lnTo>
                <a:lnTo>
                  <a:pt x="0" y="28575"/>
                </a:lnTo>
                <a:lnTo>
                  <a:pt x="3733800" y="28575"/>
                </a:lnTo>
                <a:lnTo>
                  <a:pt x="3733800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22287" y="2399029"/>
            <a:ext cx="3768090" cy="3813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55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Loops:</a:t>
            </a:r>
            <a:endParaRPr sz="1200">
              <a:latin typeface="Calibri"/>
              <a:cs typeface="Calibri"/>
            </a:endParaRPr>
          </a:p>
          <a:p>
            <a:pPr marL="12700" marR="217170">
              <a:lnSpc>
                <a:spcPts val="1350"/>
              </a:lnSpc>
              <a:spcBef>
                <a:spcPts val="35"/>
              </a:spcBef>
            </a:pP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problems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 easier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understand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loop, </a:t>
            </a:r>
            <a:r>
              <a:rPr dirty="0" sz="1200">
                <a:latin typeface="Calibri"/>
                <a:cs typeface="Calibri"/>
              </a:rPr>
              <a:t>especially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you're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iterating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range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numbers.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60"/>
              </a:lnSpc>
              <a:spcBef>
                <a:spcPts val="110"/>
              </a:spcBef>
            </a:pPr>
            <a:r>
              <a:rPr dirty="0" sz="1200" spc="-10" b="1">
                <a:latin typeface="Calibri"/>
                <a:cs typeface="Calibri"/>
              </a:rPr>
              <a:t>Recursion: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275"/>
              </a:lnSpc>
            </a:pP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clearer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elegant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solutions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problems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55"/>
              </a:lnSpc>
            </a:pP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involve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breaking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down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similar </a:t>
            </a:r>
            <a:r>
              <a:rPr dirty="0" sz="1200" spc="-10">
                <a:latin typeface="Calibri"/>
                <a:cs typeface="Calibri"/>
              </a:rPr>
              <a:t>sub-tasks.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ts val="1360"/>
              </a:lnSpc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loops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10">
                <a:latin typeface="Calibri"/>
                <a:cs typeface="Calibri"/>
              </a:rPr>
              <a:t> efficiency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memory usage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critical,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275"/>
              </a:lnSpc>
            </a:pP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problem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naturally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iterative.</a:t>
            </a:r>
            <a:endParaRPr sz="1200">
              <a:latin typeface="Calibri"/>
              <a:cs typeface="Calibri"/>
            </a:endParaRPr>
          </a:p>
          <a:p>
            <a:pPr marL="12700" marR="80645">
              <a:lnSpc>
                <a:spcPct val="90400"/>
              </a:lnSpc>
              <a:spcBef>
                <a:spcPts val="55"/>
              </a:spcBef>
            </a:pP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simple,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repetitive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tasks,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loops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usually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efficient </a:t>
            </a:r>
            <a:r>
              <a:rPr dirty="0" sz="1200">
                <a:latin typeface="Calibri"/>
                <a:cs typeface="Calibri"/>
              </a:rPr>
              <a:t>because they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don't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additional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use </a:t>
            </a:r>
            <a:r>
              <a:rPr dirty="0" sz="1200">
                <a:latin typeface="Calibri"/>
                <a:cs typeface="Calibri"/>
              </a:rPr>
              <a:t>less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memory.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They're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straightforward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know </a:t>
            </a:r>
            <a:r>
              <a:rPr dirty="0" sz="1200">
                <a:latin typeface="Calibri"/>
                <a:cs typeface="Calibri"/>
              </a:rPr>
              <a:t>exactly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repeat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action.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200">
              <a:latin typeface="Calibri"/>
              <a:cs typeface="Calibri"/>
            </a:endParaRPr>
          </a:p>
          <a:p>
            <a:pPr algn="just" marL="12700" marR="255270">
              <a:lnSpc>
                <a:spcPct val="91300"/>
              </a:lnSpc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recursion</a:t>
            </a:r>
            <a:r>
              <a:rPr dirty="0" sz="1200" spc="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simplifies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your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makes </a:t>
            </a:r>
            <a:r>
              <a:rPr dirty="0" sz="1200" spc="-25">
                <a:latin typeface="Calibri"/>
                <a:cs typeface="Calibri"/>
              </a:rPr>
              <a:t>it </a:t>
            </a:r>
            <a:r>
              <a:rPr dirty="0" sz="1200">
                <a:latin typeface="Calibri"/>
                <a:cs typeface="Calibri"/>
              </a:rPr>
              <a:t>easier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understand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problems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involve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repetitive subproblems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branching</a:t>
            </a:r>
            <a:r>
              <a:rPr dirty="0" sz="1200" spc="-10">
                <a:latin typeface="Calibri"/>
                <a:cs typeface="Calibri"/>
              </a:rPr>
              <a:t> structures.</a:t>
            </a:r>
            <a:endParaRPr sz="1200">
              <a:latin typeface="Calibri"/>
              <a:cs typeface="Calibri"/>
            </a:endParaRPr>
          </a:p>
          <a:p>
            <a:pPr marL="12700" marR="37465">
              <a:lnSpc>
                <a:spcPts val="1280"/>
              </a:lnSpc>
              <a:spcBef>
                <a:spcPts val="10"/>
              </a:spcBef>
            </a:pPr>
            <a:r>
              <a:rPr dirty="0" sz="1200" spc="-10">
                <a:latin typeface="Calibri"/>
                <a:cs typeface="Calibri"/>
              </a:rPr>
              <a:t>Recursion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intuitive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elegant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problems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 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natural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hierarchical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nested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structure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(like </a:t>
            </a:r>
            <a:r>
              <a:rPr dirty="0" sz="1200" spc="-20">
                <a:latin typeface="Calibri"/>
                <a:cs typeface="Calibri"/>
              </a:rPr>
              <a:t>tree</a:t>
            </a:r>
            <a:endParaRPr sz="1200">
              <a:latin typeface="Calibri"/>
              <a:cs typeface="Calibri"/>
            </a:endParaRPr>
          </a:p>
          <a:p>
            <a:pPr marL="12700" marR="315595">
              <a:lnSpc>
                <a:spcPct val="88600"/>
              </a:lnSpc>
              <a:spcBef>
                <a:spcPts val="60"/>
              </a:spcBef>
            </a:pPr>
            <a:r>
              <a:rPr dirty="0" sz="1200" spc="-20">
                <a:latin typeface="Calibri"/>
                <a:cs typeface="Calibri"/>
              </a:rPr>
              <a:t>traversal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solving puzzles).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However,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additional </a:t>
            </a:r>
            <a:r>
              <a:rPr dirty="0" sz="1200">
                <a:latin typeface="Calibri"/>
                <a:cs typeface="Calibri"/>
              </a:rPr>
              <a:t>memory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recursive call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stack </a:t>
            </a:r>
            <a:r>
              <a:rPr dirty="0" sz="1200">
                <a:latin typeface="Calibri"/>
                <a:cs typeface="Calibri"/>
              </a:rPr>
              <a:t>overflow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levels.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981575" y="0"/>
            <a:ext cx="4162425" cy="6858000"/>
            <a:chOff x="4981575" y="0"/>
            <a:chExt cx="4162425" cy="6858000"/>
          </a:xfrm>
        </p:grpSpPr>
        <p:sp>
          <p:nvSpPr>
            <p:cNvPr id="8" name="object 8" descr=""/>
            <p:cNvSpPr/>
            <p:nvPr/>
          </p:nvSpPr>
          <p:spPr>
            <a:xfrm>
              <a:off x="8020050" y="0"/>
              <a:ext cx="1123950" cy="6858000"/>
            </a:xfrm>
            <a:custGeom>
              <a:avLst/>
              <a:gdLst/>
              <a:ahLst/>
              <a:cxnLst/>
              <a:rect l="l" t="t" r="r" b="b"/>
              <a:pathLst>
                <a:path w="1123950" h="6858000">
                  <a:moveTo>
                    <a:pt x="11239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123950" y="6858000"/>
                  </a:lnTo>
                  <a:lnTo>
                    <a:pt x="112395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1575" y="333247"/>
              <a:ext cx="3938651" cy="321475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133975" y="361950"/>
              <a:ext cx="3638550" cy="2914650"/>
            </a:xfrm>
            <a:custGeom>
              <a:avLst/>
              <a:gdLst/>
              <a:ahLst/>
              <a:cxnLst/>
              <a:rect l="l" t="t" r="r" b="b"/>
              <a:pathLst>
                <a:path w="3638550" h="2914650">
                  <a:moveTo>
                    <a:pt x="3638550" y="0"/>
                  </a:moveTo>
                  <a:lnTo>
                    <a:pt x="0" y="0"/>
                  </a:lnTo>
                  <a:lnTo>
                    <a:pt x="0" y="2914650"/>
                  </a:lnTo>
                  <a:lnTo>
                    <a:pt x="3638550" y="2914650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4950" y="619125"/>
              <a:ext cx="3295650" cy="244792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1575" y="3476561"/>
              <a:ext cx="3938651" cy="322427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133975" y="3505200"/>
              <a:ext cx="3638550" cy="2924175"/>
            </a:xfrm>
            <a:custGeom>
              <a:avLst/>
              <a:gdLst/>
              <a:ahLst/>
              <a:cxnLst/>
              <a:rect l="l" t="t" r="r" b="b"/>
              <a:pathLst>
                <a:path w="3638550" h="2924175">
                  <a:moveTo>
                    <a:pt x="3638550" y="0"/>
                  </a:moveTo>
                  <a:lnTo>
                    <a:pt x="0" y="0"/>
                  </a:lnTo>
                  <a:lnTo>
                    <a:pt x="0" y="2924175"/>
                  </a:lnTo>
                  <a:lnTo>
                    <a:pt x="3638550" y="2924175"/>
                  </a:lnTo>
                  <a:lnTo>
                    <a:pt x="3638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67400" y="3705225"/>
              <a:ext cx="2181225" cy="25241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4916" y="642874"/>
            <a:ext cx="1321435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400" spc="-10"/>
              <a:t>Break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708025" y="1743202"/>
            <a:ext cx="3410585" cy="118872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3200">
                <a:latin typeface="Calibri"/>
                <a:cs typeface="Calibri"/>
              </a:rPr>
              <a:t>15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min.!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3200">
                <a:latin typeface="Calibri"/>
                <a:cs typeface="Calibri"/>
              </a:rPr>
              <a:t>Please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don’t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late!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781550" y="771525"/>
            <a:ext cx="4060190" cy="5431790"/>
            <a:chOff x="4781550" y="771525"/>
            <a:chExt cx="4060190" cy="54317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1550" y="771525"/>
              <a:ext cx="3838575" cy="51054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074154" y="4093464"/>
              <a:ext cx="1704339" cy="2046605"/>
            </a:xfrm>
            <a:custGeom>
              <a:avLst/>
              <a:gdLst/>
              <a:ahLst/>
              <a:cxnLst/>
              <a:rect l="l" t="t" r="r" b="b"/>
              <a:pathLst>
                <a:path w="1704340" h="2046604">
                  <a:moveTo>
                    <a:pt x="0" y="2045995"/>
                  </a:moveTo>
                  <a:lnTo>
                    <a:pt x="43077" y="2040209"/>
                  </a:lnTo>
                  <a:lnTo>
                    <a:pt x="85843" y="2033241"/>
                  </a:lnTo>
                  <a:lnTo>
                    <a:pt x="128287" y="2025102"/>
                  </a:lnTo>
                  <a:lnTo>
                    <a:pt x="170399" y="2015803"/>
                  </a:lnTo>
                  <a:lnTo>
                    <a:pt x="212170" y="2005356"/>
                  </a:lnTo>
                  <a:lnTo>
                    <a:pt x="253591" y="1993773"/>
                  </a:lnTo>
                  <a:lnTo>
                    <a:pt x="294651" y="1981065"/>
                  </a:lnTo>
                  <a:lnTo>
                    <a:pt x="335342" y="1967243"/>
                  </a:lnTo>
                  <a:lnTo>
                    <a:pt x="375653" y="1952320"/>
                  </a:lnTo>
                  <a:lnTo>
                    <a:pt x="415575" y="1936306"/>
                  </a:lnTo>
                  <a:lnTo>
                    <a:pt x="455099" y="1919213"/>
                  </a:lnTo>
                  <a:lnTo>
                    <a:pt x="494214" y="1901053"/>
                  </a:lnTo>
                  <a:lnTo>
                    <a:pt x="532912" y="1881837"/>
                  </a:lnTo>
                  <a:lnTo>
                    <a:pt x="571183" y="1861576"/>
                  </a:lnTo>
                  <a:lnTo>
                    <a:pt x="609016" y="1840283"/>
                  </a:lnTo>
                  <a:lnTo>
                    <a:pt x="646403" y="1817969"/>
                  </a:lnTo>
                  <a:lnTo>
                    <a:pt x="683334" y="1794645"/>
                  </a:lnTo>
                  <a:lnTo>
                    <a:pt x="719799" y="1770322"/>
                  </a:lnTo>
                  <a:lnTo>
                    <a:pt x="755789" y="1745013"/>
                  </a:lnTo>
                  <a:lnTo>
                    <a:pt x="791294" y="1718729"/>
                  </a:lnTo>
                  <a:lnTo>
                    <a:pt x="826305" y="1691481"/>
                  </a:lnTo>
                  <a:lnTo>
                    <a:pt x="860811" y="1663281"/>
                  </a:lnTo>
                  <a:lnTo>
                    <a:pt x="894804" y="1634141"/>
                  </a:lnTo>
                  <a:lnTo>
                    <a:pt x="928274" y="1604071"/>
                  </a:lnTo>
                  <a:lnTo>
                    <a:pt x="961211" y="1573084"/>
                  </a:lnTo>
                  <a:lnTo>
                    <a:pt x="993605" y="1541191"/>
                  </a:lnTo>
                  <a:lnTo>
                    <a:pt x="1025448" y="1508403"/>
                  </a:lnTo>
                  <a:lnTo>
                    <a:pt x="1056729" y="1474732"/>
                  </a:lnTo>
                  <a:lnTo>
                    <a:pt x="1087439" y="1440190"/>
                  </a:lnTo>
                  <a:lnTo>
                    <a:pt x="1117568" y="1404788"/>
                  </a:lnTo>
                  <a:lnTo>
                    <a:pt x="1147106" y="1368537"/>
                  </a:lnTo>
                  <a:lnTo>
                    <a:pt x="1176045" y="1331450"/>
                  </a:lnTo>
                  <a:lnTo>
                    <a:pt x="1204375" y="1293537"/>
                  </a:lnTo>
                  <a:lnTo>
                    <a:pt x="1232085" y="1254810"/>
                  </a:lnTo>
                  <a:lnTo>
                    <a:pt x="1259166" y="1215281"/>
                  </a:lnTo>
                  <a:lnTo>
                    <a:pt x="1285609" y="1174961"/>
                  </a:lnTo>
                  <a:lnTo>
                    <a:pt x="1311405" y="1133862"/>
                  </a:lnTo>
                  <a:lnTo>
                    <a:pt x="1336543" y="1091995"/>
                  </a:lnTo>
                  <a:lnTo>
                    <a:pt x="1361013" y="1049372"/>
                  </a:lnTo>
                  <a:lnTo>
                    <a:pt x="1384808" y="1006004"/>
                  </a:lnTo>
                  <a:lnTo>
                    <a:pt x="1407915" y="961903"/>
                  </a:lnTo>
                  <a:lnTo>
                    <a:pt x="1430328" y="917080"/>
                  </a:lnTo>
                  <a:lnTo>
                    <a:pt x="1452034" y="871547"/>
                  </a:lnTo>
                  <a:lnTo>
                    <a:pt x="1473026" y="825316"/>
                  </a:lnTo>
                  <a:lnTo>
                    <a:pt x="1493293" y="778397"/>
                  </a:lnTo>
                  <a:lnTo>
                    <a:pt x="1512826" y="730803"/>
                  </a:lnTo>
                  <a:lnTo>
                    <a:pt x="1531616" y="682545"/>
                  </a:lnTo>
                  <a:lnTo>
                    <a:pt x="1549651" y="633634"/>
                  </a:lnTo>
                  <a:lnTo>
                    <a:pt x="1566924" y="584082"/>
                  </a:lnTo>
                  <a:lnTo>
                    <a:pt x="1583425" y="533901"/>
                  </a:lnTo>
                  <a:lnTo>
                    <a:pt x="1599143" y="483101"/>
                  </a:lnTo>
                  <a:lnTo>
                    <a:pt x="1614070" y="431695"/>
                  </a:lnTo>
                  <a:lnTo>
                    <a:pt x="1628195" y="379695"/>
                  </a:lnTo>
                  <a:lnTo>
                    <a:pt x="1641510" y="327111"/>
                  </a:lnTo>
                  <a:lnTo>
                    <a:pt x="1654004" y="273955"/>
                  </a:lnTo>
                  <a:lnTo>
                    <a:pt x="1665668" y="220238"/>
                  </a:lnTo>
                  <a:lnTo>
                    <a:pt x="1676492" y="165973"/>
                  </a:lnTo>
                  <a:lnTo>
                    <a:pt x="1686467" y="111170"/>
                  </a:lnTo>
                  <a:lnTo>
                    <a:pt x="1695584" y="55842"/>
                  </a:lnTo>
                  <a:lnTo>
                    <a:pt x="1703831" y="0"/>
                  </a:lnTo>
                </a:path>
              </a:pathLst>
            </a:custGeom>
            <a:ln w="126999">
              <a:solidFill>
                <a:srgbClr val="8063A1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686675" y="923925"/>
              <a:ext cx="590550" cy="771525"/>
            </a:xfrm>
            <a:custGeom>
              <a:avLst/>
              <a:gdLst/>
              <a:ahLst/>
              <a:cxnLst/>
              <a:rect l="l" t="t" r="r" b="b"/>
              <a:pathLst>
                <a:path w="590550" h="771525">
                  <a:moveTo>
                    <a:pt x="295275" y="0"/>
                  </a:moveTo>
                  <a:lnTo>
                    <a:pt x="255209" y="3521"/>
                  </a:lnTo>
                  <a:lnTo>
                    <a:pt x="216781" y="13780"/>
                  </a:lnTo>
                  <a:lnTo>
                    <a:pt x="180343" y="30315"/>
                  </a:lnTo>
                  <a:lnTo>
                    <a:pt x="146247" y="52667"/>
                  </a:lnTo>
                  <a:lnTo>
                    <a:pt x="114844" y="80376"/>
                  </a:lnTo>
                  <a:lnTo>
                    <a:pt x="86486" y="112982"/>
                  </a:lnTo>
                  <a:lnTo>
                    <a:pt x="61526" y="150025"/>
                  </a:lnTo>
                  <a:lnTo>
                    <a:pt x="40315" y="191045"/>
                  </a:lnTo>
                  <a:lnTo>
                    <a:pt x="23205" y="235583"/>
                  </a:lnTo>
                  <a:lnTo>
                    <a:pt x="10548" y="283177"/>
                  </a:lnTo>
                  <a:lnTo>
                    <a:pt x="2695" y="333369"/>
                  </a:lnTo>
                  <a:lnTo>
                    <a:pt x="0" y="385699"/>
                  </a:lnTo>
                  <a:lnTo>
                    <a:pt x="2695" y="438057"/>
                  </a:lnTo>
                  <a:lnTo>
                    <a:pt x="10548" y="488273"/>
                  </a:lnTo>
                  <a:lnTo>
                    <a:pt x="23205" y="535888"/>
                  </a:lnTo>
                  <a:lnTo>
                    <a:pt x="40315" y="580441"/>
                  </a:lnTo>
                  <a:lnTo>
                    <a:pt x="61526" y="621474"/>
                  </a:lnTo>
                  <a:lnTo>
                    <a:pt x="86487" y="658526"/>
                  </a:lnTo>
                  <a:lnTo>
                    <a:pt x="114844" y="691139"/>
                  </a:lnTo>
                  <a:lnTo>
                    <a:pt x="146247" y="718852"/>
                  </a:lnTo>
                  <a:lnTo>
                    <a:pt x="180343" y="741207"/>
                  </a:lnTo>
                  <a:lnTo>
                    <a:pt x="216781" y="757744"/>
                  </a:lnTo>
                  <a:lnTo>
                    <a:pt x="255209" y="768003"/>
                  </a:lnTo>
                  <a:lnTo>
                    <a:pt x="295275" y="771525"/>
                  </a:lnTo>
                  <a:lnTo>
                    <a:pt x="335340" y="768003"/>
                  </a:lnTo>
                  <a:lnTo>
                    <a:pt x="373768" y="757744"/>
                  </a:lnTo>
                  <a:lnTo>
                    <a:pt x="410206" y="741207"/>
                  </a:lnTo>
                  <a:lnTo>
                    <a:pt x="444302" y="718852"/>
                  </a:lnTo>
                  <a:lnTo>
                    <a:pt x="475705" y="691139"/>
                  </a:lnTo>
                  <a:lnTo>
                    <a:pt x="504063" y="658526"/>
                  </a:lnTo>
                  <a:lnTo>
                    <a:pt x="529023" y="621474"/>
                  </a:lnTo>
                  <a:lnTo>
                    <a:pt x="550234" y="580441"/>
                  </a:lnTo>
                  <a:lnTo>
                    <a:pt x="567344" y="535888"/>
                  </a:lnTo>
                  <a:lnTo>
                    <a:pt x="580001" y="488273"/>
                  </a:lnTo>
                  <a:lnTo>
                    <a:pt x="587854" y="438057"/>
                  </a:lnTo>
                  <a:lnTo>
                    <a:pt x="590550" y="385699"/>
                  </a:lnTo>
                  <a:lnTo>
                    <a:pt x="587854" y="333369"/>
                  </a:lnTo>
                  <a:lnTo>
                    <a:pt x="580001" y="283177"/>
                  </a:lnTo>
                  <a:lnTo>
                    <a:pt x="567344" y="235583"/>
                  </a:lnTo>
                  <a:lnTo>
                    <a:pt x="550234" y="191045"/>
                  </a:lnTo>
                  <a:lnTo>
                    <a:pt x="529023" y="150025"/>
                  </a:lnTo>
                  <a:lnTo>
                    <a:pt x="504062" y="112982"/>
                  </a:lnTo>
                  <a:lnTo>
                    <a:pt x="475705" y="80376"/>
                  </a:lnTo>
                  <a:lnTo>
                    <a:pt x="444302" y="52667"/>
                  </a:lnTo>
                  <a:lnTo>
                    <a:pt x="410206" y="30315"/>
                  </a:lnTo>
                  <a:lnTo>
                    <a:pt x="373768" y="13780"/>
                  </a:lnTo>
                  <a:lnTo>
                    <a:pt x="335340" y="3521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76250" y="609600"/>
            <a:ext cx="8429625" cy="5924550"/>
            <a:chOff x="476250" y="609600"/>
            <a:chExt cx="8429625" cy="5924550"/>
          </a:xfrm>
        </p:grpSpPr>
        <p:sp>
          <p:nvSpPr>
            <p:cNvPr id="3" name="object 3" descr=""/>
            <p:cNvSpPr/>
            <p:nvPr/>
          </p:nvSpPr>
          <p:spPr>
            <a:xfrm>
              <a:off x="6429375" y="3333750"/>
              <a:ext cx="2476500" cy="3200400"/>
            </a:xfrm>
            <a:custGeom>
              <a:avLst/>
              <a:gdLst/>
              <a:ahLst/>
              <a:cxnLst/>
              <a:rect l="l" t="t" r="r" b="b"/>
              <a:pathLst>
                <a:path w="2476500" h="3200400">
                  <a:moveTo>
                    <a:pt x="2476500" y="0"/>
                  </a:moveTo>
                  <a:lnTo>
                    <a:pt x="0" y="3200400"/>
                  </a:lnTo>
                  <a:lnTo>
                    <a:pt x="2476500" y="3200400"/>
                  </a:lnTo>
                  <a:lnTo>
                    <a:pt x="2476500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85775" y="619125"/>
              <a:ext cx="8172450" cy="5610225"/>
            </a:xfrm>
            <a:custGeom>
              <a:avLst/>
              <a:gdLst/>
              <a:ahLst/>
              <a:cxnLst/>
              <a:rect l="l" t="t" r="r" b="b"/>
              <a:pathLst>
                <a:path w="8172450" h="5610225">
                  <a:moveTo>
                    <a:pt x="0" y="5610225"/>
                  </a:moveTo>
                  <a:lnTo>
                    <a:pt x="8172450" y="5610225"/>
                  </a:lnTo>
                  <a:lnTo>
                    <a:pt x="8172450" y="0"/>
                  </a:lnTo>
                  <a:lnTo>
                    <a:pt x="0" y="0"/>
                  </a:lnTo>
                  <a:lnTo>
                    <a:pt x="0" y="5610225"/>
                  </a:lnTo>
                  <a:close/>
                </a:path>
              </a:pathLst>
            </a:custGeom>
            <a:ln w="190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2216" y="1542478"/>
            <a:ext cx="5212715" cy="8153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150"/>
              <a:t>Hands-On</a:t>
            </a:r>
            <a:r>
              <a:rPr dirty="0" sz="5150" spc="75"/>
              <a:t> </a:t>
            </a:r>
            <a:r>
              <a:rPr dirty="0" sz="5150" spc="-10"/>
              <a:t>Exercise!</a:t>
            </a:r>
            <a:endParaRPr sz="515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057525"/>
            <a:ext cx="2657475" cy="264795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024376" y="2976435"/>
            <a:ext cx="2858135" cy="244856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400" spc="-10" b="1">
                <a:latin typeface="Calibri"/>
                <a:cs typeface="Calibri"/>
              </a:rPr>
              <a:t>Objectives: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400" spc="-10">
                <a:latin typeface="Calibri"/>
                <a:cs typeface="Calibri"/>
              </a:rPr>
              <a:t>Understand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how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function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works.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400" spc="-20">
                <a:latin typeface="Calibri"/>
                <a:cs typeface="Calibri"/>
              </a:rPr>
              <a:t>Try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recursive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functions.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400">
                <a:latin typeface="Calibri"/>
                <a:cs typeface="Calibri"/>
              </a:rPr>
              <a:t>Experiment!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Try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out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things!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400">
              <a:latin typeface="Calibri"/>
              <a:cs typeface="Calibri"/>
            </a:endParaRPr>
          </a:p>
          <a:p>
            <a:pPr marL="12700" marR="202565">
              <a:lnSpc>
                <a:spcPct val="90900"/>
              </a:lnSpc>
            </a:pPr>
            <a:r>
              <a:rPr dirty="0" sz="1400">
                <a:latin typeface="Calibri"/>
                <a:cs typeface="Calibri"/>
              </a:rPr>
              <a:t>Get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example</a:t>
            </a:r>
            <a:r>
              <a:rPr dirty="0" sz="1400">
                <a:latin typeface="Calibri"/>
                <a:cs typeface="Calibri"/>
              </a:rPr>
              <a:t> from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here: </a:t>
            </a:r>
            <a:r>
              <a:rPr dirty="0" u="sng" sz="1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https://github.com/ptiagomp/aalto-</a:t>
            </a:r>
            <a:r>
              <a:rPr dirty="0" u="none" sz="14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programming-visual-artists-</a:t>
            </a:r>
            <a:r>
              <a:rPr dirty="0" u="sng" sz="14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24-</a:t>
            </a:r>
            <a:r>
              <a:rPr dirty="0" u="none" sz="1400" spc="-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sng" sz="1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25/tree/main/Session-05_10032025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dirty="0" sz="1400">
                <a:latin typeface="Calibri"/>
                <a:cs typeface="Calibri"/>
              </a:rPr>
              <a:t>(if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bored,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check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“extra”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files!)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1067" y="4390707"/>
            <a:ext cx="2409190" cy="136906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407034" marR="5080" indent="-394970">
              <a:lnSpc>
                <a:spcPts val="5260"/>
              </a:lnSpc>
              <a:spcBef>
                <a:spcPts val="254"/>
              </a:spcBef>
            </a:pPr>
            <a:r>
              <a:rPr dirty="0" sz="4400" spc="-10">
                <a:latin typeface="Calibri"/>
                <a:cs typeface="Calibri"/>
              </a:rPr>
              <a:t>Discussion </a:t>
            </a:r>
            <a:r>
              <a:rPr dirty="0" sz="4400">
                <a:latin typeface="Calibri"/>
                <a:cs typeface="Calibri"/>
              </a:rPr>
              <a:t>&amp;</a:t>
            </a:r>
            <a:r>
              <a:rPr dirty="0" sz="4400" spc="-45">
                <a:latin typeface="Calibri"/>
                <a:cs typeface="Calibri"/>
              </a:rPr>
              <a:t> </a:t>
            </a:r>
            <a:r>
              <a:rPr dirty="0" sz="4400" spc="-25">
                <a:latin typeface="Calibri"/>
                <a:cs typeface="Calibri"/>
              </a:rPr>
              <a:t>Q&amp;A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7285228" y="4530344"/>
            <a:ext cx="1521460" cy="1776095"/>
          </a:xfrm>
          <a:custGeom>
            <a:avLst/>
            <a:gdLst/>
            <a:ahLst/>
            <a:cxnLst/>
            <a:rect l="l" t="t" r="r" b="b"/>
            <a:pathLst>
              <a:path w="1521459" h="1776095">
                <a:moveTo>
                  <a:pt x="1518412" y="0"/>
                </a:moveTo>
                <a:lnTo>
                  <a:pt x="1520407" y="50800"/>
                </a:lnTo>
                <a:lnTo>
                  <a:pt x="1521011" y="101526"/>
                </a:lnTo>
                <a:lnTo>
                  <a:pt x="1520242" y="152141"/>
                </a:lnTo>
                <a:lnTo>
                  <a:pt x="1518123" y="202611"/>
                </a:lnTo>
                <a:lnTo>
                  <a:pt x="1514675" y="252902"/>
                </a:lnTo>
                <a:lnTo>
                  <a:pt x="1509919" y="302979"/>
                </a:lnTo>
                <a:lnTo>
                  <a:pt x="1503876" y="352807"/>
                </a:lnTo>
                <a:lnTo>
                  <a:pt x="1496568" y="402352"/>
                </a:lnTo>
                <a:lnTo>
                  <a:pt x="1488015" y="451579"/>
                </a:lnTo>
                <a:lnTo>
                  <a:pt x="1478238" y="500454"/>
                </a:lnTo>
                <a:lnTo>
                  <a:pt x="1467259" y="548942"/>
                </a:lnTo>
                <a:lnTo>
                  <a:pt x="1455100" y="597008"/>
                </a:lnTo>
                <a:lnTo>
                  <a:pt x="1441780" y="644618"/>
                </a:lnTo>
                <a:lnTo>
                  <a:pt x="1427322" y="691737"/>
                </a:lnTo>
                <a:lnTo>
                  <a:pt x="1411747" y="738331"/>
                </a:lnTo>
                <a:lnTo>
                  <a:pt x="1395075" y="784364"/>
                </a:lnTo>
                <a:lnTo>
                  <a:pt x="1377329" y="829803"/>
                </a:lnTo>
                <a:lnTo>
                  <a:pt x="1358528" y="874613"/>
                </a:lnTo>
                <a:lnTo>
                  <a:pt x="1338695" y="918758"/>
                </a:lnTo>
                <a:lnTo>
                  <a:pt x="1317850" y="962205"/>
                </a:lnTo>
                <a:lnTo>
                  <a:pt x="1296015" y="1004919"/>
                </a:lnTo>
                <a:lnTo>
                  <a:pt x="1273211" y="1046866"/>
                </a:lnTo>
                <a:lnTo>
                  <a:pt x="1249458" y="1088010"/>
                </a:lnTo>
                <a:lnTo>
                  <a:pt x="1224779" y="1128316"/>
                </a:lnTo>
                <a:lnTo>
                  <a:pt x="1199195" y="1167752"/>
                </a:lnTo>
                <a:lnTo>
                  <a:pt x="1172726" y="1206281"/>
                </a:lnTo>
                <a:lnTo>
                  <a:pt x="1145394" y="1243869"/>
                </a:lnTo>
                <a:lnTo>
                  <a:pt x="1117219" y="1280482"/>
                </a:lnTo>
                <a:lnTo>
                  <a:pt x="1088224" y="1316086"/>
                </a:lnTo>
                <a:lnTo>
                  <a:pt x="1058429" y="1350644"/>
                </a:lnTo>
                <a:lnTo>
                  <a:pt x="1027856" y="1384123"/>
                </a:lnTo>
                <a:lnTo>
                  <a:pt x="996525" y="1416489"/>
                </a:lnTo>
                <a:lnTo>
                  <a:pt x="964458" y="1447706"/>
                </a:lnTo>
                <a:lnTo>
                  <a:pt x="931676" y="1477739"/>
                </a:lnTo>
                <a:lnTo>
                  <a:pt x="898201" y="1506556"/>
                </a:lnTo>
                <a:lnTo>
                  <a:pt x="864052" y="1534120"/>
                </a:lnTo>
                <a:lnTo>
                  <a:pt x="829253" y="1560397"/>
                </a:lnTo>
                <a:lnTo>
                  <a:pt x="793823" y="1585352"/>
                </a:lnTo>
                <a:lnTo>
                  <a:pt x="757784" y="1608952"/>
                </a:lnTo>
                <a:lnTo>
                  <a:pt x="721157" y="1631161"/>
                </a:lnTo>
                <a:lnTo>
                  <a:pt x="683963" y="1651944"/>
                </a:lnTo>
                <a:lnTo>
                  <a:pt x="646224" y="1671268"/>
                </a:lnTo>
                <a:lnTo>
                  <a:pt x="607961" y="1689097"/>
                </a:lnTo>
                <a:lnTo>
                  <a:pt x="569194" y="1705397"/>
                </a:lnTo>
                <a:lnTo>
                  <a:pt x="529946" y="1720133"/>
                </a:lnTo>
                <a:lnTo>
                  <a:pt x="490236" y="1733271"/>
                </a:lnTo>
                <a:lnTo>
                  <a:pt x="450088" y="1744776"/>
                </a:lnTo>
                <a:lnTo>
                  <a:pt x="399239" y="1756792"/>
                </a:lnTo>
                <a:lnTo>
                  <a:pt x="348427" y="1765933"/>
                </a:lnTo>
                <a:lnTo>
                  <a:pt x="297725" y="1772197"/>
                </a:lnTo>
                <a:lnTo>
                  <a:pt x="247209" y="1775585"/>
                </a:lnTo>
                <a:lnTo>
                  <a:pt x="196952" y="1776095"/>
                </a:lnTo>
                <a:lnTo>
                  <a:pt x="147028" y="1773727"/>
                </a:lnTo>
                <a:lnTo>
                  <a:pt x="97512" y="1768480"/>
                </a:lnTo>
                <a:lnTo>
                  <a:pt x="48478" y="1760354"/>
                </a:lnTo>
                <a:lnTo>
                  <a:pt x="0" y="1749348"/>
                </a:lnTo>
              </a:path>
            </a:pathLst>
          </a:custGeom>
          <a:ln w="127000">
            <a:solidFill>
              <a:srgbClr val="8063A1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4091" y="1191901"/>
            <a:ext cx="3781906" cy="185079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811015" y="4027106"/>
            <a:ext cx="181292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b="1">
                <a:latin typeface="Calibri"/>
                <a:cs typeface="Calibri"/>
              </a:rPr>
              <a:t>Share</a:t>
            </a:r>
            <a:r>
              <a:rPr dirty="0" sz="1550" spc="45" b="1">
                <a:latin typeface="Calibri"/>
                <a:cs typeface="Calibri"/>
              </a:rPr>
              <a:t> </a:t>
            </a:r>
            <a:r>
              <a:rPr dirty="0" sz="1550" b="1">
                <a:latin typeface="Calibri"/>
                <a:cs typeface="Calibri"/>
              </a:rPr>
              <a:t>your</a:t>
            </a:r>
            <a:r>
              <a:rPr dirty="0" sz="1550" spc="155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feedback!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11015" y="4275137"/>
            <a:ext cx="4450080" cy="167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05"/>
              </a:spcBef>
            </a:pPr>
            <a:r>
              <a:rPr dirty="0" sz="1550">
                <a:latin typeface="Calibri"/>
                <a:cs typeface="Calibri"/>
              </a:rPr>
              <a:t>Am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going</a:t>
            </a:r>
            <a:r>
              <a:rPr dirty="0" sz="1550" spc="-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too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fast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or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too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slow?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this</a:t>
            </a:r>
            <a:r>
              <a:rPr dirty="0" sz="1550" spc="1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too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easy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or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too </a:t>
            </a:r>
            <a:r>
              <a:rPr dirty="0" sz="1550" spc="-10">
                <a:latin typeface="Calibri"/>
                <a:cs typeface="Calibri"/>
              </a:rPr>
              <a:t>hard?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550" b="1">
                <a:latin typeface="Calibri"/>
                <a:cs typeface="Calibri"/>
              </a:rPr>
              <a:t>Tomorrow’s</a:t>
            </a:r>
            <a:r>
              <a:rPr dirty="0" sz="1550" spc="25" b="1">
                <a:latin typeface="Calibri"/>
                <a:cs typeface="Calibri"/>
              </a:rPr>
              <a:t> </a:t>
            </a:r>
            <a:r>
              <a:rPr dirty="0" sz="1550" spc="-10" b="1">
                <a:latin typeface="Calibri"/>
                <a:cs typeface="Calibri"/>
              </a:rPr>
              <a:t>topics:</a:t>
            </a:r>
            <a:endParaRPr sz="1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Calibri"/>
                <a:cs typeface="Calibri"/>
              </a:rPr>
              <a:t>Objects</a:t>
            </a:r>
            <a:r>
              <a:rPr dirty="0" sz="1550" spc="1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arrays.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50" b="1">
                <a:solidFill>
                  <a:srgbClr val="FF0000"/>
                </a:solidFill>
                <a:latin typeface="Calibri"/>
                <a:cs typeface="Calibri"/>
              </a:rPr>
              <a:t>Don’t</a:t>
            </a:r>
            <a:r>
              <a:rPr dirty="0" sz="1550" spc="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FF0000"/>
                </a:solidFill>
                <a:latin typeface="Calibri"/>
                <a:cs typeface="Calibri"/>
              </a:rPr>
              <a:t>forget</a:t>
            </a:r>
            <a:r>
              <a:rPr dirty="0" sz="1550" spc="5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50" b="1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1550" spc="10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FF0000"/>
                </a:solidFill>
                <a:latin typeface="Calibri"/>
                <a:cs typeface="Calibri"/>
              </a:rPr>
              <a:t>assignments!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2026-02-16T14:48:44Z</dcterms:created>
  <dcterms:modified xsi:type="dcterms:W3CDTF">2026-02-16T14:48:44Z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2025-03-08T00:00:00Z</vt:filetime>
  </property>
  <property fmtid="{D5CDD505-2E9C-101B-9397-08002B2CF9AE}" pid="3" name="LastSaved">
    <vt:filetime>2026-02-16T00:00:00Z</vt:filetime>
  </property>
</Properties>
</file>